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0"/>
  </p:notesMasterIdLst>
  <p:sldIdLst>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876" autoAdjust="0"/>
  </p:normalViewPr>
  <p:slideViewPr>
    <p:cSldViewPr snapToGrid="0" snapToObjects="1">
      <p:cViewPr varScale="1">
        <p:scale>
          <a:sx n="68" d="100"/>
          <a:sy n="68" d="100"/>
        </p:scale>
        <p:origin x="123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r>
              <a:rPr lang="en-GB" sz="1400" b="1">
                <a:solidFill>
                  <a:schemeClr val="bg1"/>
                </a:solidFill>
              </a:rPr>
              <a:t>Score by version</a:t>
            </a:r>
          </a:p>
        </c:rich>
      </c:tx>
      <c:overlay val="0"/>
    </c:title>
    <c:autoTitleDeleted val="0"/>
    <c:plotArea>
      <c:layout/>
      <c:barChart>
        <c:barDir val="bar"/>
        <c:grouping val="clustered"/>
        <c:varyColors val="1"/>
        <c:ser>
          <c:idx val="0"/>
          <c:order val="0"/>
          <c:tx>
            <c:strRef>
              <c:f>Sheet1!$B$1</c:f>
              <c:strCache>
                <c:ptCount val="1"/>
                <c:pt idx="0">
                  <c:v>Score</c:v>
                </c:pt>
              </c:strCache>
            </c:strRef>
          </c:tx>
          <c:invertIfNegative val="1"/>
          <c:dPt>
            <c:idx val="0"/>
            <c:invertIfNegative val="1"/>
            <c:bubble3D val="0"/>
            <c:spPr>
              <a:solidFill>
                <a:srgbClr val="4B5A72"/>
              </a:solidFill>
            </c:spPr>
            <c:extLst>
              <c:ext xmlns:c16="http://schemas.microsoft.com/office/drawing/2014/chart" uri="{C3380CC4-5D6E-409C-BE32-E72D297353CC}">
                <c16:uniqueId val="{00000001-7A19-460E-97E5-6170073A0086}"/>
              </c:ext>
            </c:extLst>
          </c:dPt>
          <c:dPt>
            <c:idx val="1"/>
            <c:invertIfNegative val="1"/>
            <c:bubble3D val="0"/>
            <c:spPr>
              <a:solidFill>
                <a:srgbClr val="4B5A72"/>
              </a:solidFill>
            </c:spPr>
            <c:extLst>
              <c:ext xmlns:c16="http://schemas.microsoft.com/office/drawing/2014/chart" uri="{C3380CC4-5D6E-409C-BE32-E72D297353CC}">
                <c16:uniqueId val="{00000003-7A19-460E-97E5-6170073A0086}"/>
              </c:ext>
            </c:extLst>
          </c:dPt>
          <c:dPt>
            <c:idx val="2"/>
            <c:invertIfNegative val="1"/>
            <c:bubble3D val="0"/>
            <c:spPr>
              <a:solidFill>
                <a:srgbClr val="F2A900"/>
              </a:solidFill>
            </c:spPr>
            <c:extLst>
              <c:ext xmlns:c16="http://schemas.microsoft.com/office/drawing/2014/chart" uri="{C3380CC4-5D6E-409C-BE32-E72D297353CC}">
                <c16:uniqueId val="{00000005-7A19-460E-97E5-6170073A0086}"/>
              </c:ext>
            </c:extLst>
          </c:dPt>
          <c:dPt>
            <c:idx val="3"/>
            <c:invertIfNegative val="1"/>
            <c:bubble3D val="0"/>
            <c:spPr>
              <a:solidFill>
                <a:srgbClr val="4B5A72"/>
              </a:solidFill>
            </c:spPr>
            <c:extLst>
              <c:ext xmlns:c16="http://schemas.microsoft.com/office/drawing/2014/chart" uri="{C3380CC4-5D6E-409C-BE32-E72D297353CC}">
                <c16:uniqueId val="{00000007-7A19-460E-97E5-6170073A0086}"/>
              </c:ext>
            </c:extLst>
          </c:dPt>
          <c:dLbls>
            <c:numFmt formatCode="0.00" sourceLinked="0"/>
            <c:spPr>
              <a:noFill/>
              <a:ln>
                <a:noFill/>
              </a:ln>
              <a:effectLst/>
            </c:spPr>
            <c:txPr>
              <a:bodyPr/>
              <a:lstStyle/>
              <a:p>
                <a:pPr>
                  <a:defRPr sz="1400" b="1">
                    <a:solidFill>
                      <a:schemeClr val="bg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Baseline: all PV</c:v>
                </c:pt>
                <c:pt idx="1">
                  <c:v>Detection on 4 years</c:v>
                </c:pt>
                <c:pt idx="2">
                  <c:v>Final pipeline</c:v>
                </c:pt>
                <c:pt idx="3">
                  <c:v>Final, 2-year windows</c:v>
                </c:pt>
              </c:strCache>
            </c:strRef>
          </c:cat>
          <c:val>
            <c:numRef>
              <c:f>Sheet1!$B$2:$B$5</c:f>
              <c:numCache>
                <c:formatCode>General</c:formatCode>
                <c:ptCount val="4"/>
                <c:pt idx="0">
                  <c:v>54.58</c:v>
                </c:pt>
                <c:pt idx="1">
                  <c:v>78.489999999999995</c:v>
                </c:pt>
                <c:pt idx="2">
                  <c:v>81.819999999999993</c:v>
                </c:pt>
                <c:pt idx="3">
                  <c:v>77.930000000000007</c:v>
                </c:pt>
              </c:numCache>
            </c:numRef>
          </c:val>
          <c:extLst>
            <c:ext xmlns:c16="http://schemas.microsoft.com/office/drawing/2014/chart" uri="{C3380CC4-5D6E-409C-BE32-E72D297353CC}">
              <c16:uniqueId val="{00000008-7A19-460E-97E5-6170073A0086}"/>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noFill/>
          </a:ln>
        </c:spPr>
        <c:crossAx val="-2113994440"/>
        <c:crosses val="autoZero"/>
        <c:auto val="1"/>
        <c:lblAlgn val="ctr"/>
        <c:lblOffset val="100"/>
        <c:noMultiLvlLbl val="0"/>
      </c:catAx>
      <c:valAx>
        <c:axId val="-2113994440"/>
        <c:scaling>
          <c:orientation val="minMax"/>
          <c:max val="100"/>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CADCFC"/>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516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AIL asked how much we can learn about a PV plant from the grid-consumption curve alone: 15-minute readings, no weather, no location. Three questions per customer: is there PV, when was it switched on, how many </a:t>
            </a:r>
            <a:r>
              <a:rPr dirty="0" err="1"/>
              <a:t>kWp</a:t>
            </a:r>
            <a:r>
              <a:rPr dirty="0"/>
              <a:t>. Our whole solution rests on one effect: once panels are on the roof, the customer takes less from the grid around noon, and more so on sunny days. Pipeline (Figure 1): a tolerant reader, daily figures in fixed UTC hours, then one simple model per task. Result: 81.8 points in leave-one-customer-out validation, against 54.6 for a trivial baseline.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Panels lower midday consumption only when the sun is out, so with PV the midday dip changes from day to day with the clouds; a dip caused by habits is the same every day. </a:t>
            </a:r>
            <a:r>
              <a:rPr dirty="0" err="1"/>
              <a:t>dip_spread</a:t>
            </a:r>
            <a:r>
              <a:rPr dirty="0"/>
              <a:t> measures exactly that over summer days. Customers the first rule rejects get a second look with </a:t>
            </a:r>
            <a:r>
              <a:rPr dirty="0" err="1"/>
              <a:t>rec_drop</a:t>
            </a:r>
            <a:r>
              <a:rPr dirty="0"/>
              <a:t>, which catches plants installed in the last months. Both features use only the last two years, like the training windows. We tried a dozen features plus 22 variants, trees, logistic regression and pseudo-labels: none beat this two-step rule. 20 of 22 plants found, no false alarm.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Once panels are installed, midday consumption drops for good compared with the night, which never sees the sun. So we fit the daily log midday/night ratio with a constant, a yearly sine and cosine for the seasons, and one step. We try every candidate day and keep the one with the smallest squared error. If no step reduces the error by at least 5%, the panels were already there and we return the first day. Nothing is trained on labels. Median error: 1 day; 13 of 20 dates within a week; 5 are more than 30 days off.</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never see what the panels produce, only what the customer takes from the grid. Before installation we learn the customer's usual midday-to-night ratio. After installation, that ratio times each summer night predicts midday demand without PV; the gap to the real withdrawal is the power the panels cover. A linear regression turns the average gap into </a:t>
            </a:r>
            <a:r>
              <a:rPr dirty="0" err="1"/>
              <a:t>kWp</a:t>
            </a:r>
            <a:r>
              <a:rPr dirty="0"/>
              <a:t>, and a geometric mean with the median plant (169.5 </a:t>
            </a:r>
            <a:r>
              <a:rPr dirty="0" err="1"/>
              <a:t>kWp</a:t>
            </a:r>
            <a:r>
              <a:rPr dirty="0"/>
              <a:t>) limits large errors on unusual customers. Capacity is our weakest task: P 0.429 against 0.415 for the median alone.</a:t>
            </a:r>
            <a:endParaRPr lang="it-IT" dirty="0"/>
          </a:p>
          <a:p>
            <a:endParaRPr lang="en-GB" dirty="0"/>
          </a:p>
          <a:p>
            <a:r>
              <a:rPr lang="en-GB" dirty="0"/>
              <a:t>Mention extra task??</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the unlabelled file is 7.9 GB, so we read it with DuckDB with memory capped at 4 GB. Midday saturation: the meter cannot go below zero, so big plants look smaller, which is why capacity stays hard. On the 1,147 unlabelled customers 34% come out as PV; an unsupervised cut lands at 1.08 against our 0.85, so a few false alarms are possible on new customers. Pseudo-labels from three agreeing models changed nothing. Finally robustness: one malformed row used to crash everything; now every module has a fallback and the output always has one row per customer.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customer is predicted by models whose thresholds and coefficients were fitted on the other 39. Final score 81.82 with F1 0.952, D 0.632, P 0.429, against 54.58 for the baseline. Moving detection to the last two years took us from 78.49 to 81.82. Cut to 2-year windows, the pipeline still scores 77.93 plus or minus 2.42. Honest caveat: features and methods were chosen looking at all 40 customers, so 81.8 is probably slightly optimistic; one customer is worth about 2 points.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GB"/>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GB"/>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114872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4642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GB"/>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GB"/>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5BCAD085-E8A6-8845-BD4E-CB4CCA059FC4}" type="datetimeFigureOut">
              <a:rPr lang="en-US" smtClean="0"/>
              <a:t>10/18/2026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7447110"/>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GB"/>
              <a:t>Click to edit Master title style</a:t>
            </a:r>
            <a:endParaRPr lang="en-US"/>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GB"/>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5BCAD085-E8A6-8845-BD4E-CB4CCA059FC4}" type="datetimeFigureOut">
              <a:rPr lang="en-US" smtClean="0"/>
              <a:t>10/18/2026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71601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66133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GB"/>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2802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GB"/>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5BCAD085-E8A6-8845-BD4E-CB4CCA059FC4}" type="datetimeFigureOut">
              <a:rPr lang="en-US" smtClean="0"/>
              <a:t>10/18/2026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54938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GB"/>
              <a:t>Click to edit Master title style</a:t>
            </a:r>
            <a:endParaRPr lang="en-US"/>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247620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GB"/>
              <a:t>Click to edit Master title style</a:t>
            </a:r>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18736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GB"/>
              <a:t>Click to edit Master title style</a:t>
            </a:r>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5BCAD085-E8A6-8845-BD4E-CB4CCA059FC4}" type="datetimeFigureOut">
              <a:rPr lang="en-US" smtClean="0"/>
              <a:t>10/18/2026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8427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GB"/>
              <a:t>Click to edit Master title style</a:t>
            </a:r>
            <a:endParaRPr lang="en-US"/>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5BCAD085-E8A6-8845-BD4E-CB4CCA059FC4}" type="datetimeFigureOut">
              <a:rPr lang="en-US" smtClean="0"/>
              <a:t>10/18/2026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C1FF6DA9-008F-8B48-92A6-B652298478BF}"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82809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GB"/>
              <a:t>Click to edit Master title style</a:t>
            </a:r>
            <a:endParaRPr lang="en-US"/>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5BCAD085-E8A6-8845-BD4E-CB4CCA059FC4}" type="datetimeFigureOut">
              <a:rPr lang="en-US" smtClean="0"/>
              <a:t>10/18/2026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6106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9561243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GB"/>
              <a:t>Click to edit Master title style</a:t>
            </a:r>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5BCAD085-E8A6-8845-BD4E-CB4CCA059FC4}" type="datetimeFigureOut">
              <a:rPr lang="en-US" smtClean="0"/>
              <a:t>10/18/2026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76261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GB"/>
              <a:t>Click to edit Master title style</a:t>
            </a:r>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5BCAD085-E8A6-8845-BD4E-CB4CCA059FC4}" type="datetimeFigureOut">
              <a:rPr lang="en-US" smtClean="0"/>
              <a:t>10/18/2026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636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GB"/>
              <a:t>Click to edit Master title style</a:t>
            </a:r>
            <a:endParaRPr lang="en-US"/>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5BCAD085-E8A6-8845-BD4E-CB4CCA059FC4}" type="datetimeFigureOut">
              <a:rPr lang="en-US" smtClean="0"/>
              <a:t>10/18/2026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66319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743547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653731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GB"/>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3012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GB"/>
              <a:t>Click to edit Master title style</a:t>
            </a:r>
            <a:endParaRPr lang="en-US"/>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1FF6DA9-008F-8B48-92A6-B652298478BF}"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1798780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10/18/2026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58796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GB"/>
              <a:t>Click to edit Master title style</a:t>
            </a:r>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5BCAD085-E8A6-8845-BD4E-CB4CCA059FC4}" type="datetimeFigureOut">
              <a:rPr lang="en-US" smtClean="0"/>
              <a:t>10/18/2026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1FF6DA9-008F-8B48-92A6-B652298478BF}"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7368127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5BCAD085-E8A6-8845-BD4E-CB4CCA059FC4}" type="datetimeFigureOut">
              <a:rPr lang="en-US" smtClean="0"/>
              <a:t>10/18/2026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674971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GB"/>
              <a:t>Click to edit Master title style</a:t>
            </a:r>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5BCAD085-E8A6-8845-BD4E-CB4CCA059FC4}" type="datetimeFigureOut">
              <a:rPr lang="en-US" smtClean="0"/>
              <a:t>10/18/2026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91536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GB"/>
              <a:t>Click to edit Master title style</a:t>
            </a:r>
            <a:endParaRPr lang="en-US"/>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5BCAD085-E8A6-8845-BD4E-CB4CCA059FC4}" type="datetimeFigureOut">
              <a:rPr lang="en-US" smtClean="0"/>
              <a:t>10/18/2026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44955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GB"/>
              <a:t>Click to edit Master title style</a:t>
            </a:r>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482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50446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5BCAD085-E8A6-8845-BD4E-CB4CCA059FC4}" type="datetimeFigureOut">
              <a:rPr lang="en-US" smtClean="0"/>
              <a:t>10/18/2026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18220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p15:clr>
            <a:srgbClr val="F26B43"/>
          </p15:clr>
        </p15:guide>
        <p15:guide id="22" orient="horz" pos="2160">
          <p15:clr>
            <a:srgbClr val="F26B43"/>
          </p15:clr>
        </p15:guide>
        <p15:guide id="23" pos="4800">
          <p15:clr>
            <a:srgbClr val="F26B43"/>
          </p15:clr>
        </p15:guide>
        <p15:guide id="24" orient="horz" pos="480">
          <p15:clr>
            <a:srgbClr val="F26B43"/>
          </p15:clr>
        </p15:guide>
        <p15:guide id="25" orient="horz" pos="864">
          <p15:clr>
            <a:srgbClr val="F26B43"/>
          </p15:clr>
        </p15:guide>
        <p15:guide id="26" pos="7392">
          <p15:clr>
            <a:srgbClr val="F26B43"/>
          </p15:clr>
        </p15:guide>
        <p15:guide id="27" orient="horz" pos="3840">
          <p15:clr>
            <a:srgbClr val="F26B43"/>
          </p15:clr>
        </p15:guide>
        <p15:guide id="28" pos="240">
          <p15:clr>
            <a:srgbClr val="F26B43"/>
          </p15:clr>
        </p15:guide>
        <p15:guide id="29" pos="74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960120"/>
            <a:ext cx="8412480" cy="1463040"/>
          </a:xfrm>
        </p:spPr>
        <p:txBody>
          <a:bodyPr wrap="square" lIns="0" tIns="0" rIns="0" bIns="0" anchor="t"/>
          <a:lstStyle/>
          <a:p>
            <a:pPr algn="l"/>
            <a:r>
              <a:rPr sz="4000" b="1">
                <a:solidFill>
                  <a:schemeClr val="bg1"/>
                </a:solidFill>
              </a:rPr>
              <a:t>AI-based PV Detection from Electricity Consumption Profiles</a:t>
            </a:r>
          </a:p>
        </p:txBody>
      </p:sp>
      <p:sp>
        <p:nvSpPr>
          <p:cNvPr id="3" name="Kicker"/>
          <p:cNvSpPr txBox="1"/>
          <p:nvPr/>
        </p:nvSpPr>
        <p:spPr>
          <a:xfrm>
            <a:off x="548640" y="502920"/>
            <a:ext cx="8229600" cy="365760"/>
          </a:xfrm>
          <a:prstGeom prst="rect">
            <a:avLst/>
          </a:prstGeom>
          <a:noFill/>
        </p:spPr>
        <p:txBody>
          <a:bodyPr wrap="square" lIns="0" tIns="0" rIns="0" bIns="0" anchor="t">
            <a:spAutoFit/>
          </a:bodyPr>
          <a:lstStyle/>
          <a:p>
            <a:pPr algn="l"/>
            <a:r>
              <a:rPr sz="1400" b="1" i="0">
                <a:solidFill>
                  <a:schemeClr val="accent1"/>
                </a:solidFill>
              </a:rPr>
              <a:t>NEURAL WAVE HACKATHON 2026  ·  AIL CHALLENGE</a:t>
            </a:r>
          </a:p>
        </p:txBody>
      </p:sp>
      <p:sp>
        <p:nvSpPr>
          <p:cNvPr id="4" name="Subtitle"/>
          <p:cNvSpPr txBox="1"/>
          <p:nvPr/>
        </p:nvSpPr>
        <p:spPr>
          <a:xfrm>
            <a:off x="548640" y="2560320"/>
            <a:ext cx="7863840" cy="914400"/>
          </a:xfrm>
          <a:prstGeom prst="rect">
            <a:avLst/>
          </a:prstGeom>
          <a:noFill/>
        </p:spPr>
        <p:txBody>
          <a:bodyPr wrap="square" lIns="0" tIns="0" rIns="0" bIns="0" anchor="t">
            <a:spAutoFit/>
          </a:bodyPr>
          <a:lstStyle/>
          <a:p>
            <a:pPr algn="l"/>
            <a:r>
              <a:rPr sz="1800" b="0" i="0" dirty="0">
                <a:solidFill>
                  <a:srgbClr val="CADCFC"/>
                </a:solidFill>
              </a:rPr>
              <a:t>From one 15-minute grid-consumption curve, and nothing else: is there a PV plant, when was it switched on, and how big is it?</a:t>
            </a:r>
          </a:p>
        </p:txBody>
      </p:sp>
      <p:sp>
        <p:nvSpPr>
          <p:cNvPr id="5" name="Score callout"/>
          <p:cNvSpPr/>
          <p:nvPr/>
        </p:nvSpPr>
        <p:spPr>
          <a:xfrm>
            <a:off x="9326880" y="1005840"/>
            <a:ext cx="2331720" cy="233172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core value"/>
          <p:cNvSpPr txBox="1"/>
          <p:nvPr/>
        </p:nvSpPr>
        <p:spPr>
          <a:xfrm>
            <a:off x="9326880" y="1188720"/>
            <a:ext cx="2331720" cy="1097280"/>
          </a:xfrm>
          <a:prstGeom prst="rect">
            <a:avLst/>
          </a:prstGeom>
          <a:noFill/>
        </p:spPr>
        <p:txBody>
          <a:bodyPr wrap="square" lIns="0" tIns="0" rIns="0" bIns="0" anchor="ctr">
            <a:spAutoFit/>
          </a:bodyPr>
          <a:lstStyle/>
          <a:p>
            <a:pPr algn="ctr"/>
            <a:r>
              <a:rPr sz="6000" b="1" i="0">
                <a:solidFill>
                  <a:schemeClr val="accent1"/>
                </a:solidFill>
              </a:rPr>
              <a:t>81.8</a:t>
            </a:r>
          </a:p>
        </p:txBody>
      </p:sp>
      <p:sp>
        <p:nvSpPr>
          <p:cNvPr id="7" name="Score label"/>
          <p:cNvSpPr txBox="1"/>
          <p:nvPr/>
        </p:nvSpPr>
        <p:spPr>
          <a:xfrm>
            <a:off x="9464040" y="2286000"/>
            <a:ext cx="2057400" cy="914400"/>
          </a:xfrm>
          <a:prstGeom prst="rect">
            <a:avLst/>
          </a:prstGeom>
          <a:noFill/>
        </p:spPr>
        <p:txBody>
          <a:bodyPr wrap="square" lIns="0" tIns="0" rIns="0" bIns="0" anchor="t">
            <a:spAutoFit/>
          </a:bodyPr>
          <a:lstStyle/>
          <a:p>
            <a:pPr algn="ctr"/>
            <a:r>
              <a:rPr sz="1400" b="0" i="0">
                <a:solidFill>
                  <a:schemeClr val="bg1"/>
                </a:solidFill>
              </a:rPr>
              <a:t>validation points</a:t>
            </a:r>
          </a:p>
          <a:p>
            <a:pPr algn="ctr"/>
            <a:r>
              <a:rPr sz="1400" b="0" i="0">
                <a:solidFill>
                  <a:schemeClr val="bg1"/>
                </a:solidFill>
              </a:rPr>
              <a:t>(baseline 54.6)</a:t>
            </a:r>
          </a:p>
        </p:txBody>
      </p:sp>
      <p:sp>
        <p:nvSpPr>
          <p:cNvPr id="8" name="PLACEHOLDER Figure 1"/>
          <p:cNvSpPr/>
          <p:nvPr/>
        </p:nvSpPr>
        <p:spPr>
          <a:xfrm>
            <a:off x="548640" y="3749039"/>
            <a:ext cx="11094415" cy="1783080"/>
          </a:xfrm>
          <a:prstGeom prst="roundRect">
            <a:avLst>
              <a:gd name="adj" fmla="val 4000"/>
            </a:avLst>
          </a:prstGeom>
          <a:solidFill>
            <a:srgbClr val="1B2A41"/>
          </a:solidFill>
          <a:ln w="19050">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LACEHOLDER label Figure 1"/>
          <p:cNvSpPr txBox="1"/>
          <p:nvPr/>
        </p:nvSpPr>
        <p:spPr>
          <a:xfrm>
            <a:off x="822959" y="3931920"/>
            <a:ext cx="10545775" cy="1417319"/>
          </a:xfrm>
          <a:prstGeom prst="rect">
            <a:avLst/>
          </a:prstGeom>
          <a:noFill/>
        </p:spPr>
        <p:txBody>
          <a:bodyPr wrap="square" lIns="0" tIns="0" rIns="0" bIns="0" anchor="ctr">
            <a:spAutoFit/>
          </a:bodyPr>
          <a:lstStyle/>
          <a:p>
            <a:pPr algn="ctr">
              <a:spcAft>
                <a:spcPts val="400"/>
              </a:spcAft>
            </a:pPr>
            <a:r>
              <a:rPr sz="1600" b="1" i="0">
                <a:solidFill>
                  <a:schemeClr val="bg1"/>
                </a:solidFill>
              </a:rPr>
              <a:t>Figure 1</a:t>
            </a:r>
          </a:p>
          <a:p>
            <a:pPr algn="ctr">
              <a:spcAft>
                <a:spcPts val="400"/>
              </a:spcAft>
            </a:pPr>
            <a:r>
              <a:rPr sz="1200" b="0" i="0">
                <a:solidFill>
                  <a:schemeClr val="bg1"/>
                </a:solidFill>
              </a:rPr>
              <a:t>inference.py pipeline: test CSV → tolerant reader → daily UTC bands → Task 1 → Task 2 → Task 3 → extensions → 2 CSV files</a:t>
            </a:r>
          </a:p>
          <a:p>
            <a:pPr algn="ctr">
              <a:spcAft>
                <a:spcPts val="400"/>
              </a:spcAft>
            </a:pPr>
            <a:r>
              <a:rPr sz="1100" b="0" i="1">
                <a:solidFill>
                  <a:schemeClr val="accent1"/>
                </a:solidFill>
              </a:rPr>
              <a:t>Insert picture from the report</a:t>
            </a:r>
          </a:p>
        </p:txBody>
      </p:sp>
      <p:sp>
        <p:nvSpPr>
          <p:cNvPr id="10" name="Team"/>
          <p:cNvSpPr txBox="1"/>
          <p:nvPr/>
        </p:nvSpPr>
        <p:spPr>
          <a:xfrm>
            <a:off x="548640" y="5852160"/>
            <a:ext cx="11094415" cy="230832"/>
          </a:xfrm>
          <a:prstGeom prst="rect">
            <a:avLst/>
          </a:prstGeom>
          <a:noFill/>
        </p:spPr>
        <p:txBody>
          <a:bodyPr wrap="square" lIns="0" tIns="0" rIns="0" bIns="0" anchor="t">
            <a:spAutoFit/>
          </a:bodyPr>
          <a:lstStyle/>
          <a:p>
            <a:pPr algn="l"/>
            <a:r>
              <a:rPr sz="1500" b="1" i="0" dirty="0">
                <a:solidFill>
                  <a:schemeClr val="accent1"/>
                </a:solidFill>
              </a:rPr>
              <a:t>Team AI-</a:t>
            </a:r>
            <a:r>
              <a:rPr sz="1500" b="1" i="0" dirty="0" err="1">
                <a:solidFill>
                  <a:schemeClr val="accent1"/>
                </a:solidFill>
              </a:rPr>
              <a:t>uto</a:t>
            </a:r>
            <a:r>
              <a:rPr sz="1500" b="1" i="0" dirty="0">
                <a:solidFill>
                  <a:schemeClr val="accent1"/>
                </a:solidFill>
              </a:rPr>
              <a:t>!</a:t>
            </a:r>
            <a:r>
              <a:rPr lang="it-IT" sz="1500" b="1" i="0" dirty="0">
                <a:solidFill>
                  <a:schemeClr val="accent1"/>
                </a:solidFill>
              </a:rPr>
              <a:t>:</a:t>
            </a:r>
            <a:r>
              <a:rPr sz="1500" b="1" i="0" dirty="0">
                <a:solidFill>
                  <a:schemeClr val="accent1"/>
                </a:solidFill>
              </a:rPr>
              <a:t>   </a:t>
            </a:r>
            <a:r>
              <a:rPr sz="1500" b="0" i="0" dirty="0">
                <a:solidFill>
                  <a:schemeClr val="bg1"/>
                </a:solidFill>
              </a:rPr>
              <a:t>Giorgio Ripani  ·  Leonardo </a:t>
            </a:r>
            <a:r>
              <a:rPr sz="1500" b="0" i="0" dirty="0" err="1">
                <a:solidFill>
                  <a:schemeClr val="bg1"/>
                </a:solidFill>
              </a:rPr>
              <a:t>Lodolini</a:t>
            </a:r>
            <a:r>
              <a:rPr sz="1500" b="0" i="0" dirty="0">
                <a:solidFill>
                  <a:schemeClr val="bg1"/>
                </a:solidFill>
              </a:rPr>
              <a:t>  ·  Andrea Gallo  ·  Flavio Davide Borriello  ·  Francesco Tassi</a:t>
            </a:r>
          </a:p>
        </p:txBody>
      </p:sp>
      <p:pic>
        <p:nvPicPr>
          <p:cNvPr id="13" name="Picture 12">
            <a:extLst>
              <a:ext uri="{FF2B5EF4-FFF2-40B4-BE49-F238E27FC236}">
                <a16:creationId xmlns:a16="http://schemas.microsoft.com/office/drawing/2014/main" id="{128EBD27-B398-60AB-139F-82CEAFA81B80}"/>
              </a:ext>
            </a:extLst>
          </p:cNvPr>
          <p:cNvPicPr>
            <a:picLocks noChangeAspect="1"/>
          </p:cNvPicPr>
          <p:nvPr/>
        </p:nvPicPr>
        <p:blipFill>
          <a:blip r:embed="rId3"/>
          <a:stretch>
            <a:fillRect/>
          </a:stretch>
        </p:blipFill>
        <p:spPr>
          <a:xfrm>
            <a:off x="601826" y="3987072"/>
            <a:ext cx="10988040" cy="12285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Picture 10" descr="Chi siamo - AIL">
            <a:extLst>
              <a:ext uri="{FF2B5EF4-FFF2-40B4-BE49-F238E27FC236}">
                <a16:creationId xmlns:a16="http://schemas.microsoft.com/office/drawing/2014/main" id="{ACF2A64F-8099-7B8F-76D1-DE1FF6C8C469}"/>
              </a:ext>
            </a:extLst>
          </p:cNvPr>
          <p:cNvPicPr>
            <a:picLocks noChangeAspect="1"/>
          </p:cNvPicPr>
          <p:nvPr/>
        </p:nvPicPr>
        <p:blipFill>
          <a:blip r:embed="rId4"/>
          <a:stretch>
            <a:fillRect/>
          </a:stretch>
        </p:blipFill>
        <p:spPr>
          <a:xfrm>
            <a:off x="9585654" y="5191655"/>
            <a:ext cx="2331720" cy="155184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64240" cy="658368"/>
          </a:xfrm>
        </p:spPr>
        <p:txBody>
          <a:bodyPr wrap="square" lIns="0" tIns="0" rIns="0" bIns="0" anchor="t"/>
          <a:lstStyle/>
          <a:p>
            <a:pPr algn="l"/>
            <a:r>
              <a:rPr sz="3600" b="1">
                <a:solidFill>
                  <a:schemeClr val="tx2"/>
                </a:solidFill>
              </a:rPr>
              <a:t>Task 1 · Is there PV?</a:t>
            </a:r>
          </a:p>
        </p:txBody>
      </p:sp>
      <p:sp>
        <p:nvSpPr>
          <p:cNvPr id="3" name="Tagline"/>
          <p:cNvSpPr txBox="1"/>
          <p:nvPr/>
        </p:nvSpPr>
        <p:spPr>
          <a:xfrm>
            <a:off x="548640" y="1042415"/>
            <a:ext cx="11064240" cy="411480"/>
          </a:xfrm>
          <a:prstGeom prst="rect">
            <a:avLst/>
          </a:prstGeom>
          <a:noFill/>
        </p:spPr>
        <p:txBody>
          <a:bodyPr wrap="square" lIns="0" tIns="0" rIns="0" bIns="0" anchor="t">
            <a:spAutoFit/>
          </a:bodyPr>
          <a:lstStyle/>
          <a:p>
            <a:pPr algn="l"/>
            <a:r>
              <a:rPr sz="1800" b="0" i="1" dirty="0">
                <a:solidFill>
                  <a:schemeClr val="accent2"/>
                </a:solidFill>
              </a:rPr>
              <a:t>A solar dip comes and goes with the clouds; a lunch break does not</a:t>
            </a:r>
          </a:p>
        </p:txBody>
      </p:sp>
      <p:sp>
        <p:nvSpPr>
          <p:cNvPr id="4" name="Badge 1"/>
          <p:cNvSpPr/>
          <p:nvPr/>
        </p:nvSpPr>
        <p:spPr>
          <a:xfrm>
            <a:off x="548640" y="1801368"/>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chemeClr val="tx2"/>
                </a:solidFill>
              </a:rPr>
              <a:t>1</a:t>
            </a:r>
          </a:p>
        </p:txBody>
      </p:sp>
      <p:sp>
        <p:nvSpPr>
          <p:cNvPr id="5" name="Step 1"/>
          <p:cNvSpPr txBox="1"/>
          <p:nvPr/>
        </p:nvSpPr>
        <p:spPr>
          <a:xfrm>
            <a:off x="1143000" y="1783080"/>
            <a:ext cx="4526280" cy="764312"/>
          </a:xfrm>
          <a:prstGeom prst="rect">
            <a:avLst/>
          </a:prstGeom>
          <a:noFill/>
        </p:spPr>
        <p:txBody>
          <a:bodyPr wrap="square" lIns="0" tIns="0" rIns="0" bIns="0" anchor="t">
            <a:spAutoFit/>
          </a:bodyPr>
          <a:lstStyle/>
          <a:p>
            <a:pPr algn="l">
              <a:spcAft>
                <a:spcPts val="200"/>
              </a:spcAft>
            </a:pPr>
            <a:r>
              <a:rPr sz="1800" b="1" i="0" dirty="0">
                <a:solidFill>
                  <a:schemeClr val="tx2"/>
                </a:solidFill>
              </a:rPr>
              <a:t>Last 2 years only</a:t>
            </a:r>
          </a:p>
          <a:p>
            <a:pPr algn="l">
              <a:spcAft>
                <a:spcPts val="200"/>
              </a:spcAft>
            </a:pPr>
            <a:r>
              <a:rPr lang="it-IT" sz="1500" b="0" i="0" dirty="0">
                <a:solidFill>
                  <a:schemeClr val="accent4"/>
                </a:solidFill>
              </a:rPr>
              <a:t>Better performance </a:t>
            </a:r>
            <a:r>
              <a:rPr lang="it-IT" sz="1500" b="0" i="0" dirty="0" err="1">
                <a:solidFill>
                  <a:schemeClr val="accent4"/>
                </a:solidFill>
              </a:rPr>
              <a:t>compared</a:t>
            </a:r>
            <a:r>
              <a:rPr lang="it-IT" sz="1500" b="0" i="0" dirty="0">
                <a:solidFill>
                  <a:schemeClr val="accent4"/>
                </a:solidFill>
              </a:rPr>
              <a:t> to </a:t>
            </a:r>
            <a:r>
              <a:rPr lang="it-IT" sz="1500" b="0" i="0" dirty="0" err="1">
                <a:solidFill>
                  <a:schemeClr val="accent4"/>
                </a:solidFill>
              </a:rPr>
              <a:t>using</a:t>
            </a:r>
            <a:r>
              <a:rPr lang="it-IT" sz="1500" b="0" i="0" dirty="0">
                <a:solidFill>
                  <a:schemeClr val="accent4"/>
                </a:solidFill>
              </a:rPr>
              <a:t> the </a:t>
            </a:r>
            <a:r>
              <a:rPr lang="it-IT" sz="1500" b="0" i="0" dirty="0" err="1">
                <a:solidFill>
                  <a:schemeClr val="accent4"/>
                </a:solidFill>
              </a:rPr>
              <a:t>whole</a:t>
            </a:r>
            <a:r>
              <a:rPr lang="it-IT" sz="1500" b="0" i="0" dirty="0">
                <a:solidFill>
                  <a:schemeClr val="accent4"/>
                </a:solidFill>
              </a:rPr>
              <a:t> 4 </a:t>
            </a:r>
            <a:r>
              <a:rPr lang="it-IT" sz="1500" b="0" i="0" dirty="0" err="1">
                <a:solidFill>
                  <a:schemeClr val="accent4"/>
                </a:solidFill>
              </a:rPr>
              <a:t>year</a:t>
            </a:r>
            <a:r>
              <a:rPr lang="it-IT" sz="1500" b="0" i="0" dirty="0">
                <a:solidFill>
                  <a:schemeClr val="accent4"/>
                </a:solidFill>
              </a:rPr>
              <a:t> set</a:t>
            </a:r>
            <a:r>
              <a:rPr sz="1500" b="0" i="0" dirty="0">
                <a:solidFill>
                  <a:schemeClr val="accent4"/>
                </a:solidFill>
              </a:rPr>
              <a:t>, so old habit changes stay out</a:t>
            </a:r>
          </a:p>
        </p:txBody>
      </p:sp>
      <p:sp>
        <p:nvSpPr>
          <p:cNvPr id="6" name="Badge 2"/>
          <p:cNvSpPr/>
          <p:nvPr/>
        </p:nvSpPr>
        <p:spPr>
          <a:xfrm>
            <a:off x="548640" y="2990088"/>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chemeClr val="tx2"/>
                </a:solidFill>
              </a:rPr>
              <a:t>2</a:t>
            </a:r>
          </a:p>
        </p:txBody>
      </p:sp>
      <p:sp>
        <p:nvSpPr>
          <p:cNvPr id="7" name="Step 2"/>
          <p:cNvSpPr txBox="1"/>
          <p:nvPr/>
        </p:nvSpPr>
        <p:spPr>
          <a:xfrm>
            <a:off x="1143000" y="2971800"/>
            <a:ext cx="4526280" cy="1097280"/>
          </a:xfrm>
          <a:prstGeom prst="rect">
            <a:avLst/>
          </a:prstGeom>
          <a:noFill/>
        </p:spPr>
        <p:txBody>
          <a:bodyPr wrap="square" lIns="0" tIns="0" rIns="0" bIns="0" anchor="t">
            <a:spAutoFit/>
          </a:bodyPr>
          <a:lstStyle/>
          <a:p>
            <a:pPr algn="l">
              <a:spcAft>
                <a:spcPts val="200"/>
              </a:spcAft>
            </a:pPr>
            <a:r>
              <a:rPr sz="1800" b="1" i="0" dirty="0" err="1">
                <a:solidFill>
                  <a:schemeClr val="tx2"/>
                </a:solidFill>
              </a:rPr>
              <a:t>dip_spread</a:t>
            </a:r>
            <a:r>
              <a:rPr sz="1800" b="1" i="0" dirty="0">
                <a:solidFill>
                  <a:schemeClr val="tx2"/>
                </a:solidFill>
              </a:rPr>
              <a:t> &gt; 0.85</a:t>
            </a:r>
          </a:p>
          <a:p>
            <a:pPr algn="l">
              <a:spcAft>
                <a:spcPts val="200"/>
              </a:spcAft>
            </a:pPr>
            <a:r>
              <a:rPr sz="1500" b="0" i="0" dirty="0">
                <a:solidFill>
                  <a:schemeClr val="accent4"/>
                </a:solidFill>
              </a:rPr>
              <a:t>Spread (q90 − q10) of the summer midday dip vs morning and afternoon</a:t>
            </a:r>
          </a:p>
        </p:txBody>
      </p:sp>
      <p:sp>
        <p:nvSpPr>
          <p:cNvPr id="8" name="Badge 3"/>
          <p:cNvSpPr/>
          <p:nvPr/>
        </p:nvSpPr>
        <p:spPr>
          <a:xfrm>
            <a:off x="548640" y="4178807"/>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chemeClr val="tx2"/>
                </a:solidFill>
              </a:rPr>
              <a:t>3</a:t>
            </a:r>
          </a:p>
        </p:txBody>
      </p:sp>
      <p:sp>
        <p:nvSpPr>
          <p:cNvPr id="9" name="Step 3"/>
          <p:cNvSpPr txBox="1"/>
          <p:nvPr/>
        </p:nvSpPr>
        <p:spPr>
          <a:xfrm>
            <a:off x="1143000" y="4160520"/>
            <a:ext cx="4526280" cy="1097280"/>
          </a:xfrm>
          <a:prstGeom prst="rect">
            <a:avLst/>
          </a:prstGeom>
          <a:noFill/>
        </p:spPr>
        <p:txBody>
          <a:bodyPr wrap="square" lIns="0" tIns="0" rIns="0" bIns="0" anchor="t">
            <a:spAutoFit/>
          </a:bodyPr>
          <a:lstStyle/>
          <a:p>
            <a:pPr algn="l">
              <a:spcAft>
                <a:spcPts val="200"/>
              </a:spcAft>
            </a:pPr>
            <a:r>
              <a:rPr sz="1800" b="1" i="0" dirty="0" err="1">
                <a:solidFill>
                  <a:schemeClr val="tx2"/>
                </a:solidFill>
              </a:rPr>
              <a:t>rec_drop</a:t>
            </a:r>
            <a:r>
              <a:rPr sz="1800" b="1" i="0" dirty="0">
                <a:solidFill>
                  <a:schemeClr val="tx2"/>
                </a:solidFill>
              </a:rPr>
              <a:t> &gt; 0.12</a:t>
            </a:r>
          </a:p>
          <a:p>
            <a:pPr algn="l">
              <a:spcAft>
                <a:spcPts val="200"/>
              </a:spcAft>
            </a:pPr>
            <a:r>
              <a:rPr sz="1500" b="0" i="0" dirty="0">
                <a:solidFill>
                  <a:schemeClr val="accent4"/>
                </a:solidFill>
              </a:rPr>
              <a:t>Second look for recent plants: last 90 days vs the same days a year earlier</a:t>
            </a:r>
          </a:p>
        </p:txBody>
      </p:sp>
      <p:sp>
        <p:nvSpPr>
          <p:cNvPr id="10" name="Code panel detect.py · features_from_daily (simplified)"/>
          <p:cNvSpPr/>
          <p:nvPr/>
        </p:nvSpPr>
        <p:spPr>
          <a:xfrm>
            <a:off x="6172200" y="1691640"/>
            <a:ext cx="5468112" cy="342900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ode panel dot"/>
          <p:cNvSpPr/>
          <p:nvPr/>
        </p:nvSpPr>
        <p:spPr>
          <a:xfrm>
            <a:off x="6400800" y="1874520"/>
            <a:ext cx="118872" cy="1188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de panel dot"/>
          <p:cNvSpPr/>
          <p:nvPr/>
        </p:nvSpPr>
        <p:spPr>
          <a:xfrm>
            <a:off x="6601968" y="1874520"/>
            <a:ext cx="118872" cy="118872"/>
          </a:xfrm>
          <a:prstGeom prst="ellipse">
            <a:avLst/>
          </a:prstGeom>
          <a:solidFill>
            <a:srgbClr val="9AA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Code panel dot"/>
          <p:cNvSpPr/>
          <p:nvPr/>
        </p:nvSpPr>
        <p:spPr>
          <a:xfrm>
            <a:off x="6803136" y="1874520"/>
            <a:ext cx="118872" cy="118872"/>
          </a:xfrm>
          <a:prstGeom prst="ellipse">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ode file name"/>
          <p:cNvSpPr txBox="1"/>
          <p:nvPr/>
        </p:nvSpPr>
        <p:spPr>
          <a:xfrm>
            <a:off x="7086600" y="1783080"/>
            <a:ext cx="4325112" cy="292608"/>
          </a:xfrm>
          <a:prstGeom prst="rect">
            <a:avLst/>
          </a:prstGeom>
          <a:noFill/>
        </p:spPr>
        <p:txBody>
          <a:bodyPr wrap="square" lIns="0" tIns="0" rIns="0" bIns="0" anchor="ctr">
            <a:spAutoFit/>
          </a:bodyPr>
          <a:lstStyle/>
          <a:p>
            <a:pPr algn="l"/>
            <a:r>
              <a:rPr sz="1200" b="0" i="0">
                <a:solidFill>
                  <a:schemeClr val="accent1"/>
                </a:solidFill>
                <a:latin typeface="Consolas"/>
              </a:rPr>
              <a:t>detect.py · features_from_daily (simplified)</a:t>
            </a:r>
          </a:p>
        </p:txBody>
      </p:sp>
      <p:sp>
        <p:nvSpPr>
          <p:cNvPr id="15" name="Code"/>
          <p:cNvSpPr txBox="1"/>
          <p:nvPr/>
        </p:nvSpPr>
        <p:spPr>
          <a:xfrm>
            <a:off x="6446520" y="2194560"/>
            <a:ext cx="5010912" cy="2788920"/>
          </a:xfrm>
          <a:prstGeom prst="rect">
            <a:avLst/>
          </a:prstGeom>
          <a:noFill/>
        </p:spPr>
        <p:txBody>
          <a:bodyPr wrap="square" lIns="0" tIns="0" rIns="0" bIns="0" anchor="t">
            <a:spAutoFit/>
          </a:bodyPr>
          <a:lstStyle/>
          <a:p>
            <a:pPr algn="l"/>
            <a:r>
              <a:rPr sz="1300" b="0" i="0" dirty="0">
                <a:solidFill>
                  <a:srgbClr val="E6EDF3"/>
                </a:solidFill>
                <a:latin typeface="Consolas"/>
              </a:rPr>
              <a:t>d = d[d[</a:t>
            </a:r>
            <a:r>
              <a:rPr sz="1300" b="0" i="0" dirty="0">
                <a:solidFill>
                  <a:srgbClr val="9FD4A3"/>
                </a:solidFill>
                <a:latin typeface="Consolas"/>
              </a:rPr>
              <a:t>"date"</a:t>
            </a:r>
            <a:r>
              <a:rPr sz="1300" b="0" i="0" dirty="0">
                <a:solidFill>
                  <a:srgbClr val="E6EDF3"/>
                </a:solidFill>
                <a:latin typeface="Consolas"/>
              </a:rPr>
              <a:t>] &gt; end - </a:t>
            </a:r>
            <a:r>
              <a:rPr sz="1300" b="0" i="0" dirty="0" err="1">
                <a:solidFill>
                  <a:srgbClr val="E6EDF3"/>
                </a:solidFill>
                <a:latin typeface="Consolas"/>
              </a:rPr>
              <a:t>pd.Timedelta</a:t>
            </a:r>
            <a:r>
              <a:rPr sz="1300" b="0" i="0" dirty="0">
                <a:solidFill>
                  <a:srgbClr val="E6EDF3"/>
                </a:solidFill>
                <a:latin typeface="Consolas"/>
              </a:rPr>
              <a:t>(days=</a:t>
            </a:r>
            <a:r>
              <a:rPr sz="1300" b="0" i="0" dirty="0">
                <a:solidFill>
                  <a:srgbClr val="F2C14E"/>
                </a:solidFill>
                <a:latin typeface="Consolas"/>
              </a:rPr>
              <a:t>730</a:t>
            </a:r>
            <a:r>
              <a:rPr sz="1300" b="0" i="0" dirty="0">
                <a:solidFill>
                  <a:srgbClr val="E6EDF3"/>
                </a:solidFill>
                <a:latin typeface="Consolas"/>
              </a:rPr>
              <a:t>)]</a:t>
            </a:r>
          </a:p>
          <a:p>
            <a:pPr algn="l"/>
            <a:r>
              <a:rPr sz="1300" b="0" i="0" dirty="0">
                <a:solidFill>
                  <a:srgbClr val="E6EDF3"/>
                </a:solidFill>
                <a:latin typeface="Consolas"/>
              </a:rPr>
              <a:t> </a:t>
            </a:r>
          </a:p>
          <a:p>
            <a:pPr algn="l"/>
            <a:r>
              <a:rPr sz="1300" b="0" i="0" dirty="0">
                <a:solidFill>
                  <a:srgbClr val="E6EDF3"/>
                </a:solidFill>
                <a:latin typeface="Consolas"/>
              </a:rPr>
              <a:t>dip = </a:t>
            </a:r>
            <a:r>
              <a:rPr sz="1300" b="0" i="0" dirty="0" err="1">
                <a:solidFill>
                  <a:srgbClr val="E6EDF3"/>
                </a:solidFill>
                <a:latin typeface="Consolas"/>
              </a:rPr>
              <a:t>log_ratio</a:t>
            </a:r>
            <a:r>
              <a:rPr sz="1300" b="0" i="0" dirty="0">
                <a:solidFill>
                  <a:srgbClr val="E6EDF3"/>
                </a:solidFill>
                <a:latin typeface="Consolas"/>
              </a:rPr>
              <a:t>(d[</a:t>
            </a:r>
            <a:r>
              <a:rPr sz="1300" b="0" i="0" dirty="0">
                <a:solidFill>
                  <a:srgbClr val="9FD4A3"/>
                </a:solidFill>
                <a:latin typeface="Consolas"/>
              </a:rPr>
              <a:t>"midday"</a:t>
            </a:r>
            <a:r>
              <a:rPr sz="1300" b="0" i="0" dirty="0">
                <a:solidFill>
                  <a:srgbClr val="E6EDF3"/>
                </a:solidFill>
                <a:latin typeface="Consolas"/>
              </a:rPr>
              <a:t>],</a:t>
            </a:r>
          </a:p>
          <a:p>
            <a:pPr algn="l"/>
            <a:r>
              <a:rPr sz="1300" b="0" i="0" dirty="0">
                <a:solidFill>
                  <a:srgbClr val="E6EDF3"/>
                </a:solidFill>
                <a:latin typeface="Consolas"/>
              </a:rPr>
              <a:t>                (d[</a:t>
            </a:r>
            <a:r>
              <a:rPr sz="1300" b="0" i="0" dirty="0">
                <a:solidFill>
                  <a:srgbClr val="9FD4A3"/>
                </a:solidFill>
                <a:latin typeface="Consolas"/>
              </a:rPr>
              <a:t>"morning"</a:t>
            </a:r>
            <a:r>
              <a:rPr sz="1300" b="0" i="0" dirty="0">
                <a:solidFill>
                  <a:srgbClr val="E6EDF3"/>
                </a:solidFill>
                <a:latin typeface="Consolas"/>
              </a:rPr>
              <a:t>] + d[</a:t>
            </a:r>
            <a:r>
              <a:rPr sz="1300" b="0" i="0" dirty="0">
                <a:solidFill>
                  <a:srgbClr val="9FD4A3"/>
                </a:solidFill>
                <a:latin typeface="Consolas"/>
              </a:rPr>
              <a:t>"afternoon"</a:t>
            </a:r>
            <a:r>
              <a:rPr sz="1300" b="0" i="0" dirty="0">
                <a:solidFill>
                  <a:srgbClr val="E6EDF3"/>
                </a:solidFill>
                <a:latin typeface="Consolas"/>
              </a:rPr>
              <a:t>]) / </a:t>
            </a:r>
            <a:r>
              <a:rPr sz="1300" b="0" i="0" dirty="0">
                <a:solidFill>
                  <a:srgbClr val="F2C14E"/>
                </a:solidFill>
                <a:latin typeface="Consolas"/>
              </a:rPr>
              <a:t>2</a:t>
            </a:r>
            <a:r>
              <a:rPr sz="1300" b="0" i="0" dirty="0">
                <a:solidFill>
                  <a:srgbClr val="E6EDF3"/>
                </a:solidFill>
                <a:latin typeface="Consolas"/>
              </a:rPr>
              <a:t>)</a:t>
            </a:r>
          </a:p>
          <a:p>
            <a:pPr algn="l"/>
            <a:r>
              <a:rPr sz="1300" b="0" i="0" dirty="0" err="1">
                <a:solidFill>
                  <a:srgbClr val="E6EDF3"/>
                </a:solidFill>
                <a:latin typeface="Consolas"/>
              </a:rPr>
              <a:t>dip_s</a:t>
            </a:r>
            <a:r>
              <a:rPr sz="1300" b="0" i="0" dirty="0">
                <a:solidFill>
                  <a:srgbClr val="E6EDF3"/>
                </a:solidFill>
                <a:latin typeface="Consolas"/>
              </a:rPr>
              <a:t> = dip[summer].</a:t>
            </a:r>
            <a:r>
              <a:rPr sz="1300" b="0" i="0" dirty="0" err="1">
                <a:solidFill>
                  <a:srgbClr val="E6EDF3"/>
                </a:solidFill>
                <a:latin typeface="Consolas"/>
              </a:rPr>
              <a:t>dropna</a:t>
            </a:r>
            <a:r>
              <a:rPr sz="1300" b="0" i="0" dirty="0">
                <a:solidFill>
                  <a:srgbClr val="E6EDF3"/>
                </a:solidFill>
                <a:latin typeface="Consolas"/>
              </a:rPr>
              <a:t>()</a:t>
            </a:r>
          </a:p>
          <a:p>
            <a:pPr algn="l"/>
            <a:r>
              <a:rPr sz="1300" b="0" i="0" dirty="0">
                <a:solidFill>
                  <a:srgbClr val="E6EDF3"/>
                </a:solidFill>
                <a:latin typeface="Consolas"/>
              </a:rPr>
              <a:t>f[</a:t>
            </a:r>
            <a:r>
              <a:rPr sz="1300" b="0" i="0" dirty="0">
                <a:solidFill>
                  <a:srgbClr val="9FD4A3"/>
                </a:solidFill>
                <a:latin typeface="Consolas"/>
              </a:rPr>
              <a:t>"</a:t>
            </a:r>
            <a:r>
              <a:rPr sz="1300" b="0" i="0" dirty="0" err="1">
                <a:solidFill>
                  <a:srgbClr val="9FD4A3"/>
                </a:solidFill>
                <a:latin typeface="Consolas"/>
              </a:rPr>
              <a:t>dip_spread</a:t>
            </a:r>
            <a:r>
              <a:rPr sz="1300" b="0" i="0" dirty="0">
                <a:solidFill>
                  <a:srgbClr val="9FD4A3"/>
                </a:solidFill>
                <a:latin typeface="Consolas"/>
              </a:rPr>
              <a:t>"</a:t>
            </a:r>
            <a:r>
              <a:rPr sz="1300" b="0" i="0" dirty="0">
                <a:solidFill>
                  <a:srgbClr val="E6EDF3"/>
                </a:solidFill>
                <a:latin typeface="Consolas"/>
              </a:rPr>
              <a:t>] = (</a:t>
            </a:r>
            <a:r>
              <a:rPr sz="1300" b="0" i="0" dirty="0" err="1">
                <a:solidFill>
                  <a:srgbClr val="E6EDF3"/>
                </a:solidFill>
                <a:latin typeface="Consolas"/>
              </a:rPr>
              <a:t>dip_s.quantile</a:t>
            </a:r>
            <a:r>
              <a:rPr sz="1300" b="0" i="0" dirty="0">
                <a:solidFill>
                  <a:srgbClr val="E6EDF3"/>
                </a:solidFill>
                <a:latin typeface="Consolas"/>
              </a:rPr>
              <a:t>(</a:t>
            </a:r>
            <a:r>
              <a:rPr sz="1300" b="0" i="0" dirty="0">
                <a:solidFill>
                  <a:srgbClr val="F2C14E"/>
                </a:solidFill>
                <a:latin typeface="Consolas"/>
              </a:rPr>
              <a:t>0.9</a:t>
            </a:r>
            <a:r>
              <a:rPr sz="1300" b="0" i="0" dirty="0">
                <a:solidFill>
                  <a:srgbClr val="E6EDF3"/>
                </a:solidFill>
                <a:latin typeface="Consolas"/>
              </a:rPr>
              <a:t>)</a:t>
            </a:r>
          </a:p>
          <a:p>
            <a:pPr algn="l"/>
            <a:r>
              <a:rPr sz="1300" b="0" i="0" dirty="0">
                <a:solidFill>
                  <a:srgbClr val="E6EDF3"/>
                </a:solidFill>
                <a:latin typeface="Consolas"/>
              </a:rPr>
              <a:t>                   - </a:t>
            </a:r>
            <a:r>
              <a:rPr sz="1300" b="0" i="0" dirty="0" err="1">
                <a:solidFill>
                  <a:srgbClr val="E6EDF3"/>
                </a:solidFill>
                <a:latin typeface="Consolas"/>
              </a:rPr>
              <a:t>dip_s.quantile</a:t>
            </a:r>
            <a:r>
              <a:rPr sz="1300" b="0" i="0" dirty="0">
                <a:solidFill>
                  <a:srgbClr val="E6EDF3"/>
                </a:solidFill>
                <a:latin typeface="Consolas"/>
              </a:rPr>
              <a:t>(</a:t>
            </a:r>
            <a:r>
              <a:rPr sz="1300" b="0" i="0" dirty="0">
                <a:solidFill>
                  <a:srgbClr val="F2C14E"/>
                </a:solidFill>
                <a:latin typeface="Consolas"/>
              </a:rPr>
              <a:t>0.1</a:t>
            </a:r>
            <a:r>
              <a:rPr sz="1300" b="0" i="0" dirty="0">
                <a:solidFill>
                  <a:srgbClr val="E6EDF3"/>
                </a:solidFill>
                <a:latin typeface="Consolas"/>
              </a:rPr>
              <a:t>))</a:t>
            </a:r>
          </a:p>
          <a:p>
            <a:pPr algn="l"/>
            <a:r>
              <a:rPr sz="1300" b="0" i="0" dirty="0">
                <a:solidFill>
                  <a:srgbClr val="E6EDF3"/>
                </a:solidFill>
                <a:latin typeface="Consolas"/>
              </a:rPr>
              <a:t>f[</a:t>
            </a:r>
            <a:r>
              <a:rPr sz="1300" b="0" i="0" dirty="0">
                <a:solidFill>
                  <a:srgbClr val="9FD4A3"/>
                </a:solidFill>
                <a:latin typeface="Consolas"/>
              </a:rPr>
              <a:t>"</a:t>
            </a:r>
            <a:r>
              <a:rPr sz="1300" b="0" i="0" dirty="0" err="1">
                <a:solidFill>
                  <a:srgbClr val="9FD4A3"/>
                </a:solidFill>
                <a:latin typeface="Consolas"/>
              </a:rPr>
              <a:t>rec_drop</a:t>
            </a:r>
            <a:r>
              <a:rPr sz="1300" b="0" i="0" dirty="0">
                <a:solidFill>
                  <a:srgbClr val="9FD4A3"/>
                </a:solidFill>
                <a:latin typeface="Consolas"/>
              </a:rPr>
              <a:t>"</a:t>
            </a:r>
            <a:r>
              <a:rPr sz="1300" b="0" i="0" dirty="0">
                <a:solidFill>
                  <a:srgbClr val="E6EDF3"/>
                </a:solidFill>
                <a:latin typeface="Consolas"/>
              </a:rPr>
              <a:t>] = (dip[</a:t>
            </a:r>
            <a:r>
              <a:rPr sz="1300" b="0" i="0" dirty="0" err="1">
                <a:solidFill>
                  <a:srgbClr val="E6EDF3"/>
                </a:solidFill>
                <a:latin typeface="Consolas"/>
              </a:rPr>
              <a:t>prev</a:t>
            </a:r>
            <a:r>
              <a:rPr sz="1300" b="0" i="0" dirty="0">
                <a:solidFill>
                  <a:srgbClr val="E6EDF3"/>
                </a:solidFill>
                <a:latin typeface="Consolas"/>
              </a:rPr>
              <a:t>].median()</a:t>
            </a:r>
          </a:p>
          <a:p>
            <a:pPr algn="l"/>
            <a:r>
              <a:rPr sz="1300" b="0" i="0" dirty="0">
                <a:solidFill>
                  <a:srgbClr val="E6EDF3"/>
                </a:solidFill>
                <a:latin typeface="Consolas"/>
              </a:rPr>
              <a:t>                 - dip[rec].median())</a:t>
            </a:r>
          </a:p>
          <a:p>
            <a:pPr algn="l"/>
            <a:r>
              <a:rPr sz="1300" b="0" i="0" dirty="0">
                <a:solidFill>
                  <a:srgbClr val="E6EDF3"/>
                </a:solidFill>
                <a:latin typeface="Consolas"/>
              </a:rPr>
              <a:t> </a:t>
            </a:r>
          </a:p>
          <a:p>
            <a:pPr algn="l"/>
            <a:r>
              <a:rPr sz="1300" b="0" i="1" dirty="0">
                <a:solidFill>
                  <a:srgbClr val="8B9AB0"/>
                </a:solidFill>
                <a:latin typeface="Consolas"/>
              </a:rPr>
              <a:t># rule saved in artifacts/</a:t>
            </a:r>
            <a:r>
              <a:rPr sz="1300" b="0" i="1" dirty="0" err="1">
                <a:solidFill>
                  <a:srgbClr val="8B9AB0"/>
                </a:solidFill>
                <a:latin typeface="Consolas"/>
              </a:rPr>
              <a:t>detect_params.json</a:t>
            </a:r>
            <a:endParaRPr sz="1300" b="0" i="1" dirty="0">
              <a:solidFill>
                <a:srgbClr val="8B9AB0"/>
              </a:solidFill>
              <a:latin typeface="Consolas"/>
            </a:endParaRPr>
          </a:p>
          <a:p>
            <a:pPr algn="l"/>
            <a:r>
              <a:rPr sz="1300" b="0" i="0" dirty="0" err="1">
                <a:solidFill>
                  <a:srgbClr val="E6EDF3"/>
                </a:solidFill>
                <a:latin typeface="Consolas"/>
              </a:rPr>
              <a:t>pv</a:t>
            </a:r>
            <a:r>
              <a:rPr sz="1300" b="0" i="0" dirty="0">
                <a:solidFill>
                  <a:srgbClr val="E6EDF3"/>
                </a:solidFill>
                <a:latin typeface="Consolas"/>
              </a:rPr>
              <a:t> = </a:t>
            </a:r>
            <a:r>
              <a:rPr sz="1300" b="0" i="0" dirty="0" err="1">
                <a:solidFill>
                  <a:srgbClr val="E6EDF3"/>
                </a:solidFill>
                <a:latin typeface="Consolas"/>
              </a:rPr>
              <a:t>dip_spread</a:t>
            </a:r>
            <a:r>
              <a:rPr sz="1300" b="0" i="0" dirty="0">
                <a:solidFill>
                  <a:srgbClr val="E6EDF3"/>
                </a:solidFill>
                <a:latin typeface="Consolas"/>
              </a:rPr>
              <a:t> &gt; </a:t>
            </a:r>
            <a:r>
              <a:rPr sz="1300" b="0" i="0" dirty="0">
                <a:solidFill>
                  <a:srgbClr val="F2C14E"/>
                </a:solidFill>
                <a:latin typeface="Consolas"/>
              </a:rPr>
              <a:t>0.85</a:t>
            </a:r>
            <a:r>
              <a:rPr sz="1300" b="0" i="0" dirty="0">
                <a:solidFill>
                  <a:srgbClr val="E6EDF3"/>
                </a:solidFill>
                <a:latin typeface="Consolas"/>
              </a:rPr>
              <a:t> </a:t>
            </a:r>
            <a:r>
              <a:rPr sz="1300" b="0" i="0" dirty="0">
                <a:solidFill>
                  <a:srgbClr val="7FB4FF"/>
                </a:solidFill>
                <a:latin typeface="Consolas"/>
              </a:rPr>
              <a:t>or</a:t>
            </a:r>
            <a:r>
              <a:rPr sz="1300" b="0" i="0" dirty="0">
                <a:solidFill>
                  <a:srgbClr val="E6EDF3"/>
                </a:solidFill>
                <a:latin typeface="Consolas"/>
              </a:rPr>
              <a:t> </a:t>
            </a:r>
            <a:r>
              <a:rPr sz="1300" b="0" i="0" dirty="0" err="1">
                <a:solidFill>
                  <a:srgbClr val="E6EDF3"/>
                </a:solidFill>
                <a:latin typeface="Consolas"/>
              </a:rPr>
              <a:t>rec_drop</a:t>
            </a:r>
            <a:r>
              <a:rPr sz="1300" b="0" i="0" dirty="0">
                <a:solidFill>
                  <a:srgbClr val="E6EDF3"/>
                </a:solidFill>
                <a:latin typeface="Consolas"/>
              </a:rPr>
              <a:t> &gt; </a:t>
            </a:r>
            <a:r>
              <a:rPr sz="1300" b="0" i="0" dirty="0">
                <a:solidFill>
                  <a:srgbClr val="F2C14E"/>
                </a:solidFill>
                <a:latin typeface="Consolas"/>
              </a:rPr>
              <a:t>0.12</a:t>
            </a:r>
          </a:p>
        </p:txBody>
      </p:sp>
      <p:sp>
        <p:nvSpPr>
          <p:cNvPr id="16" name="Stat PV plants found"/>
          <p:cNvSpPr/>
          <p:nvPr/>
        </p:nvSpPr>
        <p:spPr>
          <a:xfrm>
            <a:off x="548640" y="5440680"/>
            <a:ext cx="3547872" cy="10058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tat value"/>
          <p:cNvSpPr txBox="1"/>
          <p:nvPr/>
        </p:nvSpPr>
        <p:spPr>
          <a:xfrm>
            <a:off x="731520" y="5532120"/>
            <a:ext cx="3182112" cy="553212"/>
          </a:xfrm>
          <a:prstGeom prst="rect">
            <a:avLst/>
          </a:prstGeom>
          <a:noFill/>
        </p:spPr>
        <p:txBody>
          <a:bodyPr wrap="square" lIns="0" tIns="0" rIns="0" bIns="0" anchor="b">
            <a:spAutoFit/>
          </a:bodyPr>
          <a:lstStyle/>
          <a:p>
            <a:pPr algn="l"/>
            <a:r>
              <a:rPr sz="3000" b="1" i="0">
                <a:solidFill>
                  <a:schemeClr val="tx2"/>
                </a:solidFill>
              </a:rPr>
              <a:t>20 / 22</a:t>
            </a:r>
          </a:p>
        </p:txBody>
      </p:sp>
      <p:sp>
        <p:nvSpPr>
          <p:cNvPr id="18" name="Stat label"/>
          <p:cNvSpPr txBox="1"/>
          <p:nvPr/>
        </p:nvSpPr>
        <p:spPr>
          <a:xfrm>
            <a:off x="731520" y="6064300"/>
            <a:ext cx="3182112" cy="362102"/>
          </a:xfrm>
          <a:prstGeom prst="rect">
            <a:avLst/>
          </a:prstGeom>
          <a:noFill/>
        </p:spPr>
        <p:txBody>
          <a:bodyPr wrap="square" lIns="0" tIns="0" rIns="0" bIns="0" anchor="t">
            <a:spAutoFit/>
          </a:bodyPr>
          <a:lstStyle/>
          <a:p>
            <a:pPr algn="l"/>
            <a:r>
              <a:rPr sz="1200" b="0" i="0">
                <a:solidFill>
                  <a:schemeClr val="accent4"/>
                </a:solidFill>
              </a:rPr>
              <a:t>PV plants found</a:t>
            </a:r>
          </a:p>
        </p:txBody>
      </p:sp>
      <p:sp>
        <p:nvSpPr>
          <p:cNvPr id="19" name="Stat false alarms among 18 without PV"/>
          <p:cNvSpPr/>
          <p:nvPr/>
        </p:nvSpPr>
        <p:spPr>
          <a:xfrm>
            <a:off x="4320540" y="5440680"/>
            <a:ext cx="3547872" cy="10058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tat value"/>
          <p:cNvSpPr txBox="1"/>
          <p:nvPr/>
        </p:nvSpPr>
        <p:spPr>
          <a:xfrm>
            <a:off x="4503420" y="5532120"/>
            <a:ext cx="3182112" cy="553212"/>
          </a:xfrm>
          <a:prstGeom prst="rect">
            <a:avLst/>
          </a:prstGeom>
          <a:noFill/>
        </p:spPr>
        <p:txBody>
          <a:bodyPr wrap="square" lIns="0" tIns="0" rIns="0" bIns="0" anchor="b">
            <a:spAutoFit/>
          </a:bodyPr>
          <a:lstStyle/>
          <a:p>
            <a:pPr algn="l"/>
            <a:r>
              <a:rPr sz="3000" b="1" i="0">
                <a:solidFill>
                  <a:schemeClr val="tx2"/>
                </a:solidFill>
              </a:rPr>
              <a:t>0</a:t>
            </a:r>
          </a:p>
        </p:txBody>
      </p:sp>
      <p:sp>
        <p:nvSpPr>
          <p:cNvPr id="21" name="Stat label"/>
          <p:cNvSpPr txBox="1"/>
          <p:nvPr/>
        </p:nvSpPr>
        <p:spPr>
          <a:xfrm>
            <a:off x="4503420" y="6064300"/>
            <a:ext cx="3182112" cy="362102"/>
          </a:xfrm>
          <a:prstGeom prst="rect">
            <a:avLst/>
          </a:prstGeom>
          <a:noFill/>
        </p:spPr>
        <p:txBody>
          <a:bodyPr wrap="square" lIns="0" tIns="0" rIns="0" bIns="0" anchor="t">
            <a:spAutoFit/>
          </a:bodyPr>
          <a:lstStyle/>
          <a:p>
            <a:pPr algn="l"/>
            <a:r>
              <a:rPr sz="1200" b="0" i="0">
                <a:solidFill>
                  <a:schemeClr val="accent4"/>
                </a:solidFill>
              </a:rPr>
              <a:t>false alarms among 18 without PV</a:t>
            </a:r>
          </a:p>
        </p:txBody>
      </p:sp>
      <p:sp>
        <p:nvSpPr>
          <p:cNvPr id="22" name="Stat F1, leave-one-customer-out"/>
          <p:cNvSpPr/>
          <p:nvPr/>
        </p:nvSpPr>
        <p:spPr>
          <a:xfrm>
            <a:off x="8092440" y="5440680"/>
            <a:ext cx="3547872" cy="10058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tat value"/>
          <p:cNvSpPr txBox="1"/>
          <p:nvPr/>
        </p:nvSpPr>
        <p:spPr>
          <a:xfrm>
            <a:off x="8275319" y="5532120"/>
            <a:ext cx="3182112" cy="553212"/>
          </a:xfrm>
          <a:prstGeom prst="rect">
            <a:avLst/>
          </a:prstGeom>
          <a:noFill/>
        </p:spPr>
        <p:txBody>
          <a:bodyPr wrap="square" lIns="0" tIns="0" rIns="0" bIns="0" anchor="b">
            <a:spAutoFit/>
          </a:bodyPr>
          <a:lstStyle/>
          <a:p>
            <a:pPr algn="l"/>
            <a:r>
              <a:rPr sz="3000" b="1" i="0">
                <a:solidFill>
                  <a:schemeClr val="tx2"/>
                </a:solidFill>
              </a:rPr>
              <a:t>0.952</a:t>
            </a:r>
          </a:p>
        </p:txBody>
      </p:sp>
      <p:sp>
        <p:nvSpPr>
          <p:cNvPr id="24" name="Stat label"/>
          <p:cNvSpPr txBox="1"/>
          <p:nvPr/>
        </p:nvSpPr>
        <p:spPr>
          <a:xfrm>
            <a:off x="8275319" y="6064300"/>
            <a:ext cx="3182112" cy="362102"/>
          </a:xfrm>
          <a:prstGeom prst="rect">
            <a:avLst/>
          </a:prstGeom>
          <a:noFill/>
        </p:spPr>
        <p:txBody>
          <a:bodyPr wrap="square" lIns="0" tIns="0" rIns="0" bIns="0" anchor="t">
            <a:spAutoFit/>
          </a:bodyPr>
          <a:lstStyle/>
          <a:p>
            <a:pPr algn="l"/>
            <a:r>
              <a:rPr sz="1200" b="0" i="0">
                <a:solidFill>
                  <a:schemeClr val="accent4"/>
                </a:solidFill>
              </a:rPr>
              <a:t>F1, leave-one-customer-out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64240" cy="658368"/>
          </a:xfrm>
        </p:spPr>
        <p:txBody>
          <a:bodyPr wrap="square" lIns="0" tIns="0" rIns="0" bIns="0" anchor="t"/>
          <a:lstStyle/>
          <a:p>
            <a:pPr algn="l"/>
            <a:r>
              <a:rPr sz="3600" b="1">
                <a:solidFill>
                  <a:schemeClr val="tx2"/>
                </a:solidFill>
              </a:rPr>
              <a:t>Task 2 · When was it switched on?</a:t>
            </a:r>
          </a:p>
        </p:txBody>
      </p:sp>
      <p:sp>
        <p:nvSpPr>
          <p:cNvPr id="3" name="Tagline"/>
          <p:cNvSpPr txBox="1"/>
          <p:nvPr/>
        </p:nvSpPr>
        <p:spPr>
          <a:xfrm>
            <a:off x="472765" y="1390110"/>
            <a:ext cx="11064240" cy="411480"/>
          </a:xfrm>
          <a:prstGeom prst="rect">
            <a:avLst/>
          </a:prstGeom>
          <a:noFill/>
        </p:spPr>
        <p:txBody>
          <a:bodyPr wrap="square" lIns="0" tIns="0" rIns="0" bIns="0" anchor="t">
            <a:spAutoFit/>
          </a:bodyPr>
          <a:lstStyle/>
          <a:p>
            <a:pPr algn="l"/>
            <a:r>
              <a:rPr sz="1800" b="0" i="1" dirty="0">
                <a:solidFill>
                  <a:schemeClr val="accent2"/>
                </a:solidFill>
              </a:rPr>
              <a:t>The installation is a lasting step in the midday-to-night ratio</a:t>
            </a:r>
          </a:p>
        </p:txBody>
      </p:sp>
      <p:sp>
        <p:nvSpPr>
          <p:cNvPr id="4" name="Equation card"/>
          <p:cNvSpPr/>
          <p:nvPr/>
        </p:nvSpPr>
        <p:spPr>
          <a:xfrm>
            <a:off x="548640" y="1691640"/>
            <a:ext cx="6400800" cy="96012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Equation"/>
          <p:cNvSpPr txBox="1"/>
          <p:nvPr/>
        </p:nvSpPr>
        <p:spPr>
          <a:xfrm>
            <a:off x="448758" y="1723644"/>
            <a:ext cx="6035040" cy="868680"/>
          </a:xfrm>
          <a:prstGeom prst="rect">
            <a:avLst/>
          </a:prstGeom>
          <a:noFill/>
        </p:spPr>
        <p:txBody>
          <a:bodyPr wrap="square" lIns="0" tIns="0" rIns="0" bIns="0" anchor="ctr">
            <a:spAutoFit/>
          </a:bodyPr>
          <a:lstStyle/>
          <a:p>
            <a:pPr algn="l">
              <a:spcAft>
                <a:spcPts val="200"/>
              </a:spcAft>
            </a:pPr>
            <a:r>
              <a:rPr sz="2000" b="0" i="1" dirty="0" err="1">
                <a:solidFill>
                  <a:schemeClr val="tx2"/>
                </a:solidFill>
                <a:latin typeface="Cambria Math"/>
              </a:rPr>
              <a:t>y</a:t>
            </a:r>
            <a:r>
              <a:rPr sz="2000" b="0" i="1" baseline="-25000" dirty="0" err="1">
                <a:solidFill>
                  <a:schemeClr val="tx2"/>
                </a:solidFill>
                <a:latin typeface="Cambria Math"/>
              </a:rPr>
              <a:t>t</a:t>
            </a:r>
            <a:r>
              <a:rPr sz="2000" b="0" i="0" dirty="0">
                <a:solidFill>
                  <a:schemeClr val="tx2"/>
                </a:solidFill>
                <a:latin typeface="Cambria Math"/>
              </a:rPr>
              <a:t> = a + </a:t>
            </a:r>
            <a:r>
              <a:rPr sz="2000" b="0" i="0" dirty="0" err="1">
                <a:solidFill>
                  <a:schemeClr val="tx2"/>
                </a:solidFill>
                <a:latin typeface="Cambria Math"/>
              </a:rPr>
              <a:t>b·sin</a:t>
            </a:r>
            <a:r>
              <a:rPr sz="2000" b="0" i="0" dirty="0">
                <a:solidFill>
                  <a:schemeClr val="tx2"/>
                </a:solidFill>
                <a:latin typeface="Cambria Math"/>
              </a:rPr>
              <a:t>(</a:t>
            </a:r>
            <a:r>
              <a:rPr sz="2000" b="0" i="0" dirty="0" err="1">
                <a:solidFill>
                  <a:schemeClr val="tx2"/>
                </a:solidFill>
                <a:latin typeface="Cambria Math"/>
              </a:rPr>
              <a:t>ωt</a:t>
            </a:r>
            <a:r>
              <a:rPr sz="2000" b="0" i="0" dirty="0">
                <a:solidFill>
                  <a:schemeClr val="tx2"/>
                </a:solidFill>
                <a:latin typeface="Cambria Math"/>
              </a:rPr>
              <a:t>) + </a:t>
            </a:r>
            <a:r>
              <a:rPr sz="2000" b="0" i="0" dirty="0" err="1">
                <a:solidFill>
                  <a:schemeClr val="tx2"/>
                </a:solidFill>
                <a:latin typeface="Cambria Math"/>
              </a:rPr>
              <a:t>c·cos</a:t>
            </a:r>
            <a:r>
              <a:rPr sz="2000" b="0" i="0" dirty="0">
                <a:solidFill>
                  <a:schemeClr val="tx2"/>
                </a:solidFill>
                <a:latin typeface="Cambria Math"/>
              </a:rPr>
              <a:t>(</a:t>
            </a:r>
            <a:r>
              <a:rPr sz="2000" b="0" i="0" dirty="0" err="1">
                <a:solidFill>
                  <a:schemeClr val="tx2"/>
                </a:solidFill>
                <a:latin typeface="Cambria Math"/>
              </a:rPr>
              <a:t>ωt</a:t>
            </a:r>
            <a:r>
              <a:rPr sz="2000" b="0" i="0" dirty="0">
                <a:solidFill>
                  <a:schemeClr val="tx2"/>
                </a:solidFill>
                <a:latin typeface="Cambria Math"/>
              </a:rPr>
              <a:t>) + s·𝟙[t ≥ τ] + </a:t>
            </a:r>
            <a:r>
              <a:rPr sz="2000" b="0" i="0" dirty="0" err="1">
                <a:solidFill>
                  <a:schemeClr val="tx2"/>
                </a:solidFill>
                <a:latin typeface="Cambria Math"/>
              </a:rPr>
              <a:t>ε</a:t>
            </a:r>
            <a:r>
              <a:rPr sz="2000" b="0" i="1" baseline="-25000" dirty="0" err="1">
                <a:solidFill>
                  <a:schemeClr val="tx2"/>
                </a:solidFill>
                <a:latin typeface="Cambria Math"/>
              </a:rPr>
              <a:t>t</a:t>
            </a:r>
            <a:endParaRPr sz="2000" b="0" i="1" baseline="-25000" dirty="0">
              <a:solidFill>
                <a:schemeClr val="tx2"/>
              </a:solidFill>
              <a:latin typeface="Cambria Math"/>
            </a:endParaRPr>
          </a:p>
          <a:p>
            <a:pPr algn="l">
              <a:spcAft>
                <a:spcPts val="200"/>
              </a:spcAft>
            </a:pPr>
            <a:r>
              <a:rPr sz="1400" b="0" i="1" dirty="0" err="1">
                <a:solidFill>
                  <a:schemeClr val="tx2"/>
                </a:solidFill>
                <a:latin typeface="Cambria Math"/>
              </a:rPr>
              <a:t>y</a:t>
            </a:r>
            <a:r>
              <a:rPr sz="1400" b="0" i="1" baseline="-25000" dirty="0" err="1">
                <a:solidFill>
                  <a:schemeClr val="tx2"/>
                </a:solidFill>
                <a:latin typeface="Cambria Math"/>
              </a:rPr>
              <a:t>t</a:t>
            </a:r>
            <a:r>
              <a:rPr sz="1400" b="0" i="0" dirty="0">
                <a:solidFill>
                  <a:schemeClr val="accent4"/>
                </a:solidFill>
                <a:latin typeface="Cambria Math"/>
              </a:rPr>
              <a:t> = log(midday / night)   ·   ω = 2π / 365.25   ·   step s at day τ</a:t>
            </a:r>
          </a:p>
        </p:txBody>
      </p:sp>
      <p:grpSp>
        <p:nvGrpSpPr>
          <p:cNvPr id="20" name="Group 19">
            <a:extLst>
              <a:ext uri="{FF2B5EF4-FFF2-40B4-BE49-F238E27FC236}">
                <a16:creationId xmlns:a16="http://schemas.microsoft.com/office/drawing/2014/main" id="{440391A6-C794-354E-9770-B0E7CB67ED0A}"/>
              </a:ext>
            </a:extLst>
          </p:cNvPr>
          <p:cNvGrpSpPr/>
          <p:nvPr/>
        </p:nvGrpSpPr>
        <p:grpSpPr>
          <a:xfrm>
            <a:off x="342579" y="2743200"/>
            <a:ext cx="6400800" cy="2606040"/>
            <a:chOff x="447116" y="2459510"/>
            <a:chExt cx="6400800" cy="2606040"/>
          </a:xfrm>
        </p:grpSpPr>
        <p:sp>
          <p:nvSpPr>
            <p:cNvPr id="6" name="Code panel date.py · _step_regression"/>
            <p:cNvSpPr/>
            <p:nvPr/>
          </p:nvSpPr>
          <p:spPr>
            <a:xfrm>
              <a:off x="447116" y="2459510"/>
              <a:ext cx="6400800" cy="26060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 panel dot"/>
            <p:cNvSpPr/>
            <p:nvPr/>
          </p:nvSpPr>
          <p:spPr>
            <a:xfrm>
              <a:off x="675716" y="2642390"/>
              <a:ext cx="118872" cy="1188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 panel dot"/>
            <p:cNvSpPr/>
            <p:nvPr/>
          </p:nvSpPr>
          <p:spPr>
            <a:xfrm>
              <a:off x="876884" y="2642390"/>
              <a:ext cx="118872" cy="118872"/>
            </a:xfrm>
            <a:prstGeom prst="ellipse">
              <a:avLst/>
            </a:prstGeom>
            <a:solidFill>
              <a:srgbClr val="9AA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de panel dot"/>
            <p:cNvSpPr/>
            <p:nvPr/>
          </p:nvSpPr>
          <p:spPr>
            <a:xfrm>
              <a:off x="1078052" y="2642390"/>
              <a:ext cx="118872" cy="118872"/>
            </a:xfrm>
            <a:prstGeom prst="ellipse">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ode file name"/>
            <p:cNvSpPr txBox="1"/>
            <p:nvPr/>
          </p:nvSpPr>
          <p:spPr>
            <a:xfrm>
              <a:off x="1361516" y="2550950"/>
              <a:ext cx="5257800" cy="292608"/>
            </a:xfrm>
            <a:prstGeom prst="rect">
              <a:avLst/>
            </a:prstGeom>
            <a:noFill/>
          </p:spPr>
          <p:txBody>
            <a:bodyPr wrap="square" lIns="0" tIns="0" rIns="0" bIns="0" anchor="ctr">
              <a:spAutoFit/>
            </a:bodyPr>
            <a:lstStyle/>
            <a:p>
              <a:pPr algn="l"/>
              <a:r>
                <a:rPr sz="1200" b="0" i="0" dirty="0">
                  <a:solidFill>
                    <a:schemeClr val="accent1"/>
                  </a:solidFill>
                  <a:latin typeface="Consolas"/>
                </a:rPr>
                <a:t>date.py · _</a:t>
              </a:r>
              <a:r>
                <a:rPr sz="1200" b="0" i="0" dirty="0" err="1">
                  <a:solidFill>
                    <a:schemeClr val="accent1"/>
                  </a:solidFill>
                  <a:latin typeface="Consolas"/>
                </a:rPr>
                <a:t>step_regression</a:t>
              </a:r>
              <a:endParaRPr sz="1200" b="0" i="0" dirty="0">
                <a:solidFill>
                  <a:schemeClr val="accent1"/>
                </a:solidFill>
                <a:latin typeface="Consolas"/>
              </a:endParaRPr>
            </a:p>
          </p:txBody>
        </p:sp>
        <p:sp>
          <p:nvSpPr>
            <p:cNvPr id="11" name="Code"/>
            <p:cNvSpPr txBox="1"/>
            <p:nvPr/>
          </p:nvSpPr>
          <p:spPr>
            <a:xfrm>
              <a:off x="721435" y="2962430"/>
              <a:ext cx="5943600" cy="1965960"/>
            </a:xfrm>
            <a:prstGeom prst="rect">
              <a:avLst/>
            </a:prstGeom>
            <a:noFill/>
          </p:spPr>
          <p:txBody>
            <a:bodyPr wrap="square" lIns="0" tIns="0" rIns="0" bIns="0" anchor="t">
              <a:spAutoFit/>
            </a:bodyPr>
            <a:lstStyle/>
            <a:p>
              <a:pPr algn="l"/>
              <a:r>
                <a:rPr sz="1400" b="0" i="0" dirty="0">
                  <a:solidFill>
                    <a:srgbClr val="7FB4FF"/>
                  </a:solidFill>
                  <a:latin typeface="Consolas"/>
                </a:rPr>
                <a:t>for</a:t>
              </a:r>
              <a:r>
                <a:rPr sz="1400" b="0" i="0" dirty="0">
                  <a:solidFill>
                    <a:srgbClr val="E6EDF3"/>
                  </a:solidFill>
                  <a:latin typeface="Consolas"/>
                </a:rPr>
                <a:t> k </a:t>
              </a:r>
              <a:r>
                <a:rPr sz="1400" b="0" i="0" dirty="0">
                  <a:solidFill>
                    <a:srgbClr val="7FB4FF"/>
                  </a:solidFill>
                  <a:latin typeface="Consolas"/>
                </a:rPr>
                <a:t>in</a:t>
              </a:r>
              <a:r>
                <a:rPr sz="1400" b="0" i="0" dirty="0">
                  <a:solidFill>
                    <a:srgbClr val="E6EDF3"/>
                  </a:solidFill>
                  <a:latin typeface="Consolas"/>
                </a:rPr>
                <a:t> range(MIN_SEGMENT_DAYS, n - MIN_SEGMENT_DAYS + </a:t>
              </a:r>
              <a:r>
                <a:rPr sz="1400" b="0" i="0" dirty="0">
                  <a:solidFill>
                    <a:srgbClr val="F2C14E"/>
                  </a:solidFill>
                  <a:latin typeface="Consolas"/>
                </a:rPr>
                <a:t>1</a:t>
              </a:r>
              <a:r>
                <a:rPr sz="1400" b="0" i="0" dirty="0">
                  <a:solidFill>
                    <a:srgbClr val="E6EDF3"/>
                  </a:solidFill>
                  <a:latin typeface="Consolas"/>
                </a:rPr>
                <a:t>):</a:t>
              </a:r>
            </a:p>
            <a:p>
              <a:pPr algn="l"/>
              <a:r>
                <a:rPr sz="1400" b="0" i="0" dirty="0">
                  <a:solidFill>
                    <a:srgbClr val="E6EDF3"/>
                  </a:solidFill>
                  <a:latin typeface="Consolas"/>
                </a:rPr>
                <a:t>    post = (</a:t>
              </a:r>
              <a:r>
                <a:rPr sz="1400" b="0" i="0" dirty="0" err="1">
                  <a:solidFill>
                    <a:srgbClr val="E6EDF3"/>
                  </a:solidFill>
                  <a:latin typeface="Consolas"/>
                </a:rPr>
                <a:t>np.arange</a:t>
              </a:r>
              <a:r>
                <a:rPr sz="1400" b="0" i="0" dirty="0">
                  <a:solidFill>
                    <a:srgbClr val="E6EDF3"/>
                  </a:solidFill>
                  <a:latin typeface="Consolas"/>
                </a:rPr>
                <a:t>(n) &gt;= k).</a:t>
              </a:r>
              <a:r>
                <a:rPr sz="1400" b="0" i="0" dirty="0" err="1">
                  <a:solidFill>
                    <a:srgbClr val="E6EDF3"/>
                  </a:solidFill>
                  <a:latin typeface="Consolas"/>
                </a:rPr>
                <a:t>astype</a:t>
              </a:r>
              <a:r>
                <a:rPr sz="1400" b="0" i="0" dirty="0">
                  <a:solidFill>
                    <a:srgbClr val="E6EDF3"/>
                  </a:solidFill>
                  <a:latin typeface="Consolas"/>
                </a:rPr>
                <a:t>(float)</a:t>
              </a:r>
            </a:p>
            <a:p>
              <a:pPr algn="l"/>
              <a:r>
                <a:rPr sz="1400" b="0" i="0" dirty="0">
                  <a:solidFill>
                    <a:srgbClr val="E6EDF3"/>
                  </a:solidFill>
                  <a:latin typeface="Consolas"/>
                </a:rPr>
                <a:t>    s = </a:t>
              </a:r>
              <a:r>
                <a:rPr sz="1400" b="0" i="0" dirty="0" err="1">
                  <a:solidFill>
                    <a:srgbClr val="E6EDF3"/>
                  </a:solidFill>
                  <a:latin typeface="Consolas"/>
                </a:rPr>
                <a:t>sse</a:t>
              </a:r>
              <a:r>
                <a:rPr sz="1400" b="0" i="0" dirty="0">
                  <a:solidFill>
                    <a:srgbClr val="E6EDF3"/>
                  </a:solidFill>
                  <a:latin typeface="Consolas"/>
                </a:rPr>
                <a:t>(</a:t>
              </a:r>
              <a:r>
                <a:rPr sz="1400" b="0" i="0" dirty="0" err="1">
                  <a:solidFill>
                    <a:srgbClr val="E6EDF3"/>
                  </a:solidFill>
                  <a:latin typeface="Consolas"/>
                </a:rPr>
                <a:t>np.column_stack</a:t>
              </a:r>
              <a:r>
                <a:rPr sz="1400" b="0" i="0" dirty="0">
                  <a:solidFill>
                    <a:srgbClr val="E6EDF3"/>
                  </a:solidFill>
                  <a:latin typeface="Consolas"/>
                </a:rPr>
                <a:t>([base, post]))</a:t>
              </a:r>
            </a:p>
            <a:p>
              <a:pPr algn="l"/>
              <a:r>
                <a:rPr sz="1400" b="0" i="0" dirty="0">
                  <a:solidFill>
                    <a:srgbClr val="E6EDF3"/>
                  </a:solidFill>
                  <a:latin typeface="Consolas"/>
                </a:rPr>
                <a:t>    </a:t>
              </a:r>
              <a:r>
                <a:rPr sz="1400" b="0" i="0" dirty="0">
                  <a:solidFill>
                    <a:srgbClr val="7FB4FF"/>
                  </a:solidFill>
                  <a:latin typeface="Consolas"/>
                </a:rPr>
                <a:t>if</a:t>
              </a:r>
              <a:r>
                <a:rPr sz="1400" b="0" i="0" dirty="0">
                  <a:solidFill>
                    <a:srgbClr val="E6EDF3"/>
                  </a:solidFill>
                  <a:latin typeface="Consolas"/>
                </a:rPr>
                <a:t> s &lt; </a:t>
              </a:r>
              <a:r>
                <a:rPr sz="1400" b="0" i="0" dirty="0" err="1">
                  <a:solidFill>
                    <a:srgbClr val="E6EDF3"/>
                  </a:solidFill>
                  <a:latin typeface="Consolas"/>
                </a:rPr>
                <a:t>best_sse</a:t>
              </a:r>
              <a:r>
                <a:rPr sz="1400" b="0" i="0" dirty="0">
                  <a:solidFill>
                    <a:srgbClr val="E6EDF3"/>
                  </a:solidFill>
                  <a:latin typeface="Consolas"/>
                </a:rPr>
                <a:t>:</a:t>
              </a:r>
            </a:p>
            <a:p>
              <a:pPr algn="l"/>
              <a:r>
                <a:rPr sz="1400" b="0" i="0" dirty="0">
                  <a:solidFill>
                    <a:srgbClr val="E6EDF3"/>
                  </a:solidFill>
                  <a:latin typeface="Consolas"/>
                </a:rPr>
                <a:t>        </a:t>
              </a:r>
              <a:r>
                <a:rPr sz="1400" b="0" i="0" dirty="0" err="1">
                  <a:solidFill>
                    <a:srgbClr val="E6EDF3"/>
                  </a:solidFill>
                  <a:latin typeface="Consolas"/>
                </a:rPr>
                <a:t>best_k</a:t>
              </a:r>
              <a:r>
                <a:rPr sz="1400" b="0" i="0" dirty="0">
                  <a:solidFill>
                    <a:srgbClr val="E6EDF3"/>
                  </a:solidFill>
                  <a:latin typeface="Consolas"/>
                </a:rPr>
                <a:t>, </a:t>
              </a:r>
              <a:r>
                <a:rPr sz="1400" b="0" i="0" dirty="0" err="1">
                  <a:solidFill>
                    <a:srgbClr val="E6EDF3"/>
                  </a:solidFill>
                  <a:latin typeface="Consolas"/>
                </a:rPr>
                <a:t>best_sse</a:t>
              </a:r>
              <a:r>
                <a:rPr sz="1400" b="0" i="0" dirty="0">
                  <a:solidFill>
                    <a:srgbClr val="E6EDF3"/>
                  </a:solidFill>
                  <a:latin typeface="Consolas"/>
                </a:rPr>
                <a:t> = k, s</a:t>
              </a:r>
            </a:p>
            <a:p>
              <a:pPr algn="l"/>
              <a:r>
                <a:rPr sz="1400" b="0" i="0" dirty="0">
                  <a:solidFill>
                    <a:srgbClr val="7FB4FF"/>
                  </a:solidFill>
                  <a:latin typeface="Consolas"/>
                </a:rPr>
                <a:t>if</a:t>
              </a:r>
              <a:r>
                <a:rPr sz="1400" b="0" i="0" dirty="0">
                  <a:solidFill>
                    <a:srgbClr val="E6EDF3"/>
                  </a:solidFill>
                  <a:latin typeface="Consolas"/>
                </a:rPr>
                <a:t> (sse0 - </a:t>
              </a:r>
              <a:r>
                <a:rPr sz="1400" b="0" i="0" dirty="0" err="1">
                  <a:solidFill>
                    <a:srgbClr val="E6EDF3"/>
                  </a:solidFill>
                  <a:latin typeface="Consolas"/>
                </a:rPr>
                <a:t>best_sse</a:t>
              </a:r>
              <a:r>
                <a:rPr sz="1400" b="0" i="0" dirty="0">
                  <a:solidFill>
                    <a:srgbClr val="E6EDF3"/>
                  </a:solidFill>
                  <a:latin typeface="Consolas"/>
                </a:rPr>
                <a:t>) / sse0 &lt; MIN_SSE_GAIN:  </a:t>
              </a:r>
              <a:r>
                <a:rPr sz="1400" b="0" i="1" dirty="0">
                  <a:solidFill>
                    <a:srgbClr val="8B9AB0"/>
                  </a:solidFill>
                  <a:latin typeface="Consolas"/>
                </a:rPr>
                <a:t># 5 %</a:t>
              </a:r>
            </a:p>
            <a:p>
              <a:pPr algn="l"/>
              <a:r>
                <a:rPr sz="1400" b="0" i="0" dirty="0">
                  <a:solidFill>
                    <a:srgbClr val="E6EDF3"/>
                  </a:solidFill>
                  <a:latin typeface="Consolas"/>
                </a:rPr>
                <a:t>    </a:t>
              </a:r>
              <a:r>
                <a:rPr sz="1400" b="0" i="0" dirty="0">
                  <a:solidFill>
                    <a:srgbClr val="7FB4FF"/>
                  </a:solidFill>
                  <a:latin typeface="Consolas"/>
                </a:rPr>
                <a:t>return</a:t>
              </a:r>
              <a:r>
                <a:rPr sz="1400" b="0" i="0" dirty="0">
                  <a:solidFill>
                    <a:srgbClr val="E6EDF3"/>
                  </a:solidFill>
                  <a:latin typeface="Consolas"/>
                </a:rPr>
                <a:t> first   </a:t>
              </a:r>
              <a:r>
                <a:rPr sz="1400" b="0" i="1" dirty="0">
                  <a:solidFill>
                    <a:srgbClr val="8B9AB0"/>
                  </a:solidFill>
                  <a:latin typeface="Consolas"/>
                </a:rPr>
                <a:t># PV already there at the start</a:t>
              </a:r>
            </a:p>
          </p:txBody>
        </p:sp>
      </p:grpSp>
      <p:sp>
        <p:nvSpPr>
          <p:cNvPr id="12" name="Task 2 facts"/>
          <p:cNvSpPr txBox="1"/>
          <p:nvPr/>
        </p:nvSpPr>
        <p:spPr>
          <a:xfrm>
            <a:off x="694003" y="5637912"/>
            <a:ext cx="6400800" cy="777240"/>
          </a:xfrm>
          <a:prstGeom prst="rect">
            <a:avLst/>
          </a:prstGeom>
          <a:noFill/>
        </p:spPr>
        <p:txBody>
          <a:bodyPr wrap="square" lIns="0" tIns="0" rIns="0" bIns="0" anchor="t">
            <a:spAutoFit/>
          </a:bodyPr>
          <a:lstStyle/>
          <a:p>
            <a:pPr algn="l"/>
            <a:r>
              <a:rPr sz="1500" b="1" i="0" dirty="0">
                <a:solidFill>
                  <a:schemeClr val="tx2"/>
                </a:solidFill>
              </a:rPr>
              <a:t>Median error 1 day</a:t>
            </a:r>
            <a:r>
              <a:rPr sz="1500" b="0" i="0" dirty="0">
                <a:solidFill>
                  <a:schemeClr val="accent4"/>
                </a:solidFill>
              </a:rPr>
              <a:t>  ·  13 of 20 within a week  ·  D = 0.632</a:t>
            </a:r>
          </a:p>
          <a:p>
            <a:pPr algn="l"/>
            <a:r>
              <a:rPr sz="1400" b="0" i="1" dirty="0">
                <a:solidFill>
                  <a:schemeClr val="accent4"/>
                </a:solidFill>
              </a:rPr>
              <a:t>No parameter trained on labels</a:t>
            </a:r>
          </a:p>
        </p:txBody>
      </p:sp>
      <p:sp>
        <p:nvSpPr>
          <p:cNvPr id="14" name="PLACEHOLDER label Figure 2a"/>
          <p:cNvSpPr txBox="1"/>
          <p:nvPr/>
        </p:nvSpPr>
        <p:spPr>
          <a:xfrm>
            <a:off x="6710754" y="3057047"/>
            <a:ext cx="5217011" cy="430887"/>
          </a:xfrm>
          <a:prstGeom prst="rect">
            <a:avLst/>
          </a:prstGeom>
          <a:noFill/>
        </p:spPr>
        <p:txBody>
          <a:bodyPr wrap="square" lIns="0" tIns="0" rIns="0" bIns="0" anchor="ctr">
            <a:spAutoFit/>
          </a:bodyPr>
          <a:lstStyle/>
          <a:p>
            <a:pPr algn="ctr">
              <a:spcAft>
                <a:spcPts val="400"/>
              </a:spcAft>
            </a:pPr>
            <a:r>
              <a:rPr sz="1600" b="1" i="0" dirty="0">
                <a:solidFill>
                  <a:schemeClr val="accent4"/>
                </a:solidFill>
              </a:rPr>
              <a:t>Figure 2a</a:t>
            </a:r>
            <a:r>
              <a:rPr lang="it-IT" sz="1600" b="1" i="0" dirty="0">
                <a:solidFill>
                  <a:schemeClr val="accent4"/>
                </a:solidFill>
              </a:rPr>
              <a:t>: </a:t>
            </a:r>
            <a:r>
              <a:rPr sz="1200" b="0" i="0" dirty="0">
                <a:solidFill>
                  <a:schemeClr val="accent4"/>
                </a:solidFill>
              </a:rPr>
              <a:t>Midday-to-night ratio of the 20 PV customers, aligned on the installation day</a:t>
            </a:r>
          </a:p>
        </p:txBody>
      </p:sp>
      <p:sp>
        <p:nvSpPr>
          <p:cNvPr id="16" name="PLACEHOLDER label Figure 2c"/>
          <p:cNvSpPr txBox="1"/>
          <p:nvPr/>
        </p:nvSpPr>
        <p:spPr>
          <a:xfrm>
            <a:off x="7245093" y="6489740"/>
            <a:ext cx="4419601" cy="246221"/>
          </a:xfrm>
          <a:prstGeom prst="rect">
            <a:avLst/>
          </a:prstGeom>
          <a:noFill/>
        </p:spPr>
        <p:txBody>
          <a:bodyPr wrap="square" lIns="0" tIns="0" rIns="0" bIns="0" anchor="ctr">
            <a:spAutoFit/>
          </a:bodyPr>
          <a:lstStyle/>
          <a:p>
            <a:pPr algn="ctr">
              <a:spcAft>
                <a:spcPts val="400"/>
              </a:spcAft>
            </a:pPr>
            <a:r>
              <a:rPr sz="1600" b="1" i="0" dirty="0">
                <a:solidFill>
                  <a:schemeClr val="accent4"/>
                </a:solidFill>
              </a:rPr>
              <a:t>Figure 2c</a:t>
            </a:r>
            <a:r>
              <a:rPr lang="it-IT" sz="1600" b="1" i="0" dirty="0">
                <a:solidFill>
                  <a:schemeClr val="accent4"/>
                </a:solidFill>
              </a:rPr>
              <a:t>: </a:t>
            </a:r>
            <a:r>
              <a:rPr sz="1200" b="0" i="0" dirty="0">
                <a:solidFill>
                  <a:schemeClr val="accent4"/>
                </a:solidFill>
              </a:rPr>
              <a:t>Absolute date error: 12 within 5 days, 5 beyond 30 days</a:t>
            </a:r>
          </a:p>
        </p:txBody>
      </p:sp>
      <p:pic>
        <p:nvPicPr>
          <p:cNvPr id="17" name="Picture 16">
            <a:extLst>
              <a:ext uri="{FF2B5EF4-FFF2-40B4-BE49-F238E27FC236}">
                <a16:creationId xmlns:a16="http://schemas.microsoft.com/office/drawing/2014/main" id="{087CD39E-11DD-8B58-1F90-DBF855A5153D}"/>
              </a:ext>
            </a:extLst>
          </p:cNvPr>
          <p:cNvPicPr>
            <a:picLocks noChangeAspect="1"/>
          </p:cNvPicPr>
          <p:nvPr/>
        </p:nvPicPr>
        <p:blipFill>
          <a:blip r:embed="rId3"/>
          <a:stretch>
            <a:fillRect/>
          </a:stretch>
        </p:blipFill>
        <p:spPr>
          <a:xfrm>
            <a:off x="7396787" y="122039"/>
            <a:ext cx="4116211" cy="2858480"/>
          </a:xfrm>
          <a:prstGeom prst="rect">
            <a:avLst/>
          </a:prstGeom>
          <a:ln>
            <a:noFill/>
          </a:ln>
          <a:effectLst>
            <a:outerShdw blurRad="190500" algn="tl" rotWithShape="0">
              <a:srgbClr val="000000">
                <a:alpha val="70000"/>
              </a:srgbClr>
            </a:outerShdw>
          </a:effectLst>
        </p:spPr>
      </p:pic>
      <p:pic>
        <p:nvPicPr>
          <p:cNvPr id="19" name="Picture 18">
            <a:extLst>
              <a:ext uri="{FF2B5EF4-FFF2-40B4-BE49-F238E27FC236}">
                <a16:creationId xmlns:a16="http://schemas.microsoft.com/office/drawing/2014/main" id="{417AEBAD-26A1-9A9C-32F6-86FD47A50FEE}"/>
              </a:ext>
            </a:extLst>
          </p:cNvPr>
          <p:cNvPicPr>
            <a:picLocks noChangeAspect="1"/>
          </p:cNvPicPr>
          <p:nvPr/>
        </p:nvPicPr>
        <p:blipFill>
          <a:blip r:embed="rId4"/>
          <a:stretch>
            <a:fillRect/>
          </a:stretch>
        </p:blipFill>
        <p:spPr>
          <a:xfrm>
            <a:off x="7672753" y="3585509"/>
            <a:ext cx="3564283" cy="2904231"/>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64240" cy="658368"/>
          </a:xfrm>
        </p:spPr>
        <p:txBody>
          <a:bodyPr wrap="square" lIns="0" tIns="0" rIns="0" bIns="0" anchor="t"/>
          <a:lstStyle/>
          <a:p>
            <a:pPr algn="l"/>
            <a:r>
              <a:rPr sz="3600" b="1">
                <a:solidFill>
                  <a:schemeClr val="tx2"/>
                </a:solidFill>
              </a:rPr>
              <a:t>Task 3 · How many kWp?</a:t>
            </a:r>
          </a:p>
        </p:txBody>
      </p:sp>
      <p:sp>
        <p:nvSpPr>
          <p:cNvPr id="3" name="Tagline"/>
          <p:cNvSpPr txBox="1"/>
          <p:nvPr/>
        </p:nvSpPr>
        <p:spPr>
          <a:xfrm>
            <a:off x="548640" y="1042415"/>
            <a:ext cx="11064240" cy="411480"/>
          </a:xfrm>
          <a:prstGeom prst="rect">
            <a:avLst/>
          </a:prstGeom>
          <a:noFill/>
        </p:spPr>
        <p:txBody>
          <a:bodyPr wrap="square" lIns="0" tIns="0" rIns="0" bIns="0" anchor="t">
            <a:spAutoFit/>
          </a:bodyPr>
          <a:lstStyle/>
          <a:p>
            <a:pPr algn="l"/>
            <a:r>
              <a:rPr sz="1800" b="0" i="1">
                <a:solidFill>
                  <a:schemeClr val="accent2"/>
                </a:solidFill>
              </a:rPr>
              <a:t>Capacity from the midday power that goes missing after installation</a:t>
            </a:r>
          </a:p>
        </p:txBody>
      </p:sp>
      <p:sp>
        <p:nvSpPr>
          <p:cNvPr id="4" name="Flow Before"/>
          <p:cNvSpPr/>
          <p:nvPr/>
        </p:nvSpPr>
        <p:spPr>
          <a:xfrm>
            <a:off x="548640" y="1691640"/>
            <a:ext cx="2103120" cy="16002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Badge 1"/>
          <p:cNvSpPr/>
          <p:nvPr/>
        </p:nvSpPr>
        <p:spPr>
          <a:xfrm>
            <a:off x="731520" y="1847088"/>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tx2"/>
                </a:solidFill>
              </a:rPr>
              <a:t>1</a:t>
            </a:r>
          </a:p>
        </p:txBody>
      </p:sp>
      <p:sp>
        <p:nvSpPr>
          <p:cNvPr id="6" name="Flow text Before"/>
          <p:cNvSpPr txBox="1"/>
          <p:nvPr/>
        </p:nvSpPr>
        <p:spPr>
          <a:xfrm>
            <a:off x="731520" y="2286000"/>
            <a:ext cx="1783080" cy="960120"/>
          </a:xfrm>
          <a:prstGeom prst="rect">
            <a:avLst/>
          </a:prstGeom>
          <a:noFill/>
        </p:spPr>
        <p:txBody>
          <a:bodyPr wrap="square" lIns="0" tIns="0" rIns="0" bIns="0" anchor="t">
            <a:spAutoFit/>
          </a:bodyPr>
          <a:lstStyle/>
          <a:p>
            <a:pPr algn="l"/>
            <a:r>
              <a:rPr sz="1500" b="1" i="0">
                <a:solidFill>
                  <a:schemeClr val="tx2"/>
                </a:solidFill>
              </a:rPr>
              <a:t>Before</a:t>
            </a:r>
          </a:p>
          <a:p>
            <a:pPr algn="l"/>
            <a:r>
              <a:rPr sz="1300" b="0" i="0">
                <a:solidFill>
                  <a:schemeClr val="accent4"/>
                </a:solidFill>
              </a:rPr>
              <a:t>r = midday / night</a:t>
            </a:r>
          </a:p>
          <a:p>
            <a:pPr algn="l"/>
            <a:r>
              <a:rPr sz="1300" b="0" i="0">
                <a:solidFill>
                  <a:schemeClr val="accent4"/>
                </a:solidFill>
              </a:rPr>
              <a:t>usual ratio, no PV yet</a:t>
            </a:r>
          </a:p>
        </p:txBody>
      </p:sp>
      <p:sp>
        <p:nvSpPr>
          <p:cNvPr id="7" name="Flow arrow"/>
          <p:cNvSpPr/>
          <p:nvPr/>
        </p:nvSpPr>
        <p:spPr>
          <a:xfrm>
            <a:off x="2679192" y="2377440"/>
            <a:ext cx="182880" cy="237744"/>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low Summer, after"/>
          <p:cNvSpPr/>
          <p:nvPr/>
        </p:nvSpPr>
        <p:spPr>
          <a:xfrm>
            <a:off x="2880360" y="1691640"/>
            <a:ext cx="2103120" cy="16002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Badge 2"/>
          <p:cNvSpPr/>
          <p:nvPr/>
        </p:nvSpPr>
        <p:spPr>
          <a:xfrm>
            <a:off x="3063240" y="1847088"/>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tx2"/>
                </a:solidFill>
              </a:rPr>
              <a:t>2</a:t>
            </a:r>
          </a:p>
        </p:txBody>
      </p:sp>
      <p:sp>
        <p:nvSpPr>
          <p:cNvPr id="10" name="Flow text Summer, after"/>
          <p:cNvSpPr txBox="1"/>
          <p:nvPr/>
        </p:nvSpPr>
        <p:spPr>
          <a:xfrm>
            <a:off x="3063240" y="2286000"/>
            <a:ext cx="1783080" cy="960120"/>
          </a:xfrm>
          <a:prstGeom prst="rect">
            <a:avLst/>
          </a:prstGeom>
          <a:noFill/>
        </p:spPr>
        <p:txBody>
          <a:bodyPr wrap="square" lIns="0" tIns="0" rIns="0" bIns="0" anchor="t">
            <a:spAutoFit/>
          </a:bodyPr>
          <a:lstStyle/>
          <a:p>
            <a:pPr algn="l"/>
            <a:r>
              <a:rPr sz="1500" b="1" i="0">
                <a:solidFill>
                  <a:schemeClr val="tx2"/>
                </a:solidFill>
              </a:rPr>
              <a:t>Summer, after</a:t>
            </a:r>
          </a:p>
          <a:p>
            <a:pPr algn="l"/>
            <a:r>
              <a:rPr sz="1300" b="0" i="0">
                <a:solidFill>
                  <a:schemeClr val="accent4"/>
                </a:solidFill>
              </a:rPr>
              <a:t>deficit =</a:t>
            </a:r>
          </a:p>
          <a:p>
            <a:pPr algn="l"/>
            <a:r>
              <a:rPr sz="1300" b="0" i="0">
                <a:solidFill>
                  <a:schemeClr val="accent4"/>
                </a:solidFill>
              </a:rPr>
              <a:t>r·night − midday</a:t>
            </a:r>
          </a:p>
          <a:p>
            <a:pPr algn="l"/>
            <a:r>
              <a:rPr sz="1300" b="0" i="0">
                <a:solidFill>
                  <a:schemeClr val="accent4"/>
                </a:solidFill>
              </a:rPr>
              <a:t>kW the panels cover</a:t>
            </a:r>
          </a:p>
        </p:txBody>
      </p:sp>
      <p:sp>
        <p:nvSpPr>
          <p:cNvPr id="11" name="Flow arrow"/>
          <p:cNvSpPr/>
          <p:nvPr/>
        </p:nvSpPr>
        <p:spPr>
          <a:xfrm>
            <a:off x="5010912" y="2377440"/>
            <a:ext cx="182880" cy="237744"/>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Flow kWp"/>
          <p:cNvSpPr/>
          <p:nvPr/>
        </p:nvSpPr>
        <p:spPr>
          <a:xfrm>
            <a:off x="5212079" y="1691640"/>
            <a:ext cx="2103120" cy="16002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Badge 3"/>
          <p:cNvSpPr/>
          <p:nvPr/>
        </p:nvSpPr>
        <p:spPr>
          <a:xfrm>
            <a:off x="5394959" y="1847088"/>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tx2"/>
                </a:solidFill>
              </a:rPr>
              <a:t>3</a:t>
            </a:r>
          </a:p>
        </p:txBody>
      </p:sp>
      <p:sp>
        <p:nvSpPr>
          <p:cNvPr id="14" name="Flow text kWp"/>
          <p:cNvSpPr txBox="1"/>
          <p:nvPr/>
        </p:nvSpPr>
        <p:spPr>
          <a:xfrm>
            <a:off x="5394959" y="2286000"/>
            <a:ext cx="1783080" cy="960120"/>
          </a:xfrm>
          <a:prstGeom prst="rect">
            <a:avLst/>
          </a:prstGeom>
          <a:noFill/>
        </p:spPr>
        <p:txBody>
          <a:bodyPr wrap="square" lIns="0" tIns="0" rIns="0" bIns="0" anchor="t">
            <a:spAutoFit/>
          </a:bodyPr>
          <a:lstStyle/>
          <a:p>
            <a:pPr algn="l"/>
            <a:r>
              <a:rPr sz="1500" b="1" i="0">
                <a:solidFill>
                  <a:schemeClr val="tx2"/>
                </a:solidFill>
              </a:rPr>
              <a:t>kWp</a:t>
            </a:r>
          </a:p>
          <a:p>
            <a:pPr algn="l"/>
            <a:r>
              <a:rPr sz="1300" b="0" i="0">
                <a:solidFill>
                  <a:schemeClr val="accent4"/>
                </a:solidFill>
              </a:rPr>
              <a:t>linear(mean deficit Δ)</a:t>
            </a:r>
          </a:p>
          <a:p>
            <a:pPr algn="l"/>
            <a:r>
              <a:rPr sz="1300" b="0" i="0">
                <a:solidFill>
                  <a:schemeClr val="accent4"/>
                </a:solidFill>
              </a:rPr>
              <a:t>then √(kWp × 169.5)</a:t>
            </a:r>
          </a:p>
        </p:txBody>
      </p:sp>
      <p:sp>
        <p:nvSpPr>
          <p:cNvPr id="15" name="Code panel capacity_common.py · capacity_blend.py (simplified)"/>
          <p:cNvSpPr/>
          <p:nvPr/>
        </p:nvSpPr>
        <p:spPr>
          <a:xfrm>
            <a:off x="548640" y="3520440"/>
            <a:ext cx="6766560" cy="214884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Code panel dot"/>
          <p:cNvSpPr/>
          <p:nvPr/>
        </p:nvSpPr>
        <p:spPr>
          <a:xfrm>
            <a:off x="777240" y="3703320"/>
            <a:ext cx="118872" cy="1188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ode panel dot"/>
          <p:cNvSpPr/>
          <p:nvPr/>
        </p:nvSpPr>
        <p:spPr>
          <a:xfrm>
            <a:off x="978408" y="3703320"/>
            <a:ext cx="118872" cy="118872"/>
          </a:xfrm>
          <a:prstGeom prst="ellipse">
            <a:avLst/>
          </a:prstGeom>
          <a:solidFill>
            <a:srgbClr val="9AA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ode panel dot"/>
          <p:cNvSpPr/>
          <p:nvPr/>
        </p:nvSpPr>
        <p:spPr>
          <a:xfrm>
            <a:off x="1179576" y="3703320"/>
            <a:ext cx="118872" cy="118872"/>
          </a:xfrm>
          <a:prstGeom prst="ellipse">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ode file name"/>
          <p:cNvSpPr txBox="1"/>
          <p:nvPr/>
        </p:nvSpPr>
        <p:spPr>
          <a:xfrm>
            <a:off x="1463040" y="3611880"/>
            <a:ext cx="5623560" cy="292608"/>
          </a:xfrm>
          <a:prstGeom prst="rect">
            <a:avLst/>
          </a:prstGeom>
          <a:noFill/>
        </p:spPr>
        <p:txBody>
          <a:bodyPr wrap="square" lIns="0" tIns="0" rIns="0" bIns="0" anchor="ctr">
            <a:spAutoFit/>
          </a:bodyPr>
          <a:lstStyle/>
          <a:p>
            <a:pPr algn="l"/>
            <a:r>
              <a:rPr sz="1200" b="0" i="0">
                <a:solidFill>
                  <a:schemeClr val="accent1"/>
                </a:solidFill>
                <a:latin typeface="Consolas"/>
              </a:rPr>
              <a:t>capacity_common.py · capacity_blend.py (simplified)</a:t>
            </a:r>
          </a:p>
        </p:txBody>
      </p:sp>
      <p:sp>
        <p:nvSpPr>
          <p:cNvPr id="20" name="Code"/>
          <p:cNvSpPr txBox="1"/>
          <p:nvPr/>
        </p:nvSpPr>
        <p:spPr>
          <a:xfrm>
            <a:off x="822959" y="4023360"/>
            <a:ext cx="6309360" cy="1508760"/>
          </a:xfrm>
          <a:prstGeom prst="rect">
            <a:avLst/>
          </a:prstGeom>
          <a:noFill/>
        </p:spPr>
        <p:txBody>
          <a:bodyPr wrap="square" lIns="0" tIns="0" rIns="0" bIns="0" anchor="t">
            <a:spAutoFit/>
          </a:bodyPr>
          <a:lstStyle/>
          <a:p>
            <a:pPr algn="l"/>
            <a:r>
              <a:rPr sz="1400" b="0" i="0">
                <a:solidFill>
                  <a:srgbClr val="7FB4FF"/>
                </a:solidFill>
                <a:latin typeface="Consolas"/>
              </a:rPr>
              <a:t>def</a:t>
            </a:r>
            <a:r>
              <a:rPr sz="1400" b="0" i="0">
                <a:solidFill>
                  <a:srgbClr val="E6EDF3"/>
                </a:solidFill>
                <a:latin typeface="Consolas"/>
              </a:rPr>
              <a:t> deficit(days, ratio):</a:t>
            </a:r>
          </a:p>
          <a:p>
            <a:pPr algn="l"/>
            <a:r>
              <a:rPr sz="1400" b="0" i="0">
                <a:solidFill>
                  <a:srgbClr val="E6EDF3"/>
                </a:solidFill>
                <a:latin typeface="Consolas"/>
              </a:rPr>
              <a:t>    </a:t>
            </a:r>
            <a:r>
              <a:rPr sz="1400" b="0" i="0">
                <a:solidFill>
                  <a:srgbClr val="7FB4FF"/>
                </a:solidFill>
                <a:latin typeface="Consolas"/>
              </a:rPr>
              <a:t>return</a:t>
            </a:r>
            <a:r>
              <a:rPr sz="1400" b="0" i="0">
                <a:solidFill>
                  <a:srgbClr val="E6EDF3"/>
                </a:solidFill>
                <a:latin typeface="Consolas"/>
              </a:rPr>
              <a:t> ratio * days[</a:t>
            </a:r>
            <a:r>
              <a:rPr sz="1400" b="0" i="0">
                <a:solidFill>
                  <a:srgbClr val="9FD4A3"/>
                </a:solidFill>
                <a:latin typeface="Consolas"/>
              </a:rPr>
              <a:t>"night_kw"</a:t>
            </a:r>
            <a:r>
              <a:rPr sz="1400" b="0" i="0">
                <a:solidFill>
                  <a:srgbClr val="E6EDF3"/>
                </a:solidFill>
                <a:latin typeface="Consolas"/>
              </a:rPr>
              <a:t>] - days[</a:t>
            </a:r>
            <a:r>
              <a:rPr sz="1400" b="0" i="0">
                <a:solidFill>
                  <a:srgbClr val="9FD4A3"/>
                </a:solidFill>
                <a:latin typeface="Consolas"/>
              </a:rPr>
              <a:t>"mid_kw"</a:t>
            </a:r>
            <a:r>
              <a:rPr sz="1400" b="0" i="0">
                <a:solidFill>
                  <a:srgbClr val="E6EDF3"/>
                </a:solidFill>
                <a:latin typeface="Consolas"/>
              </a:rPr>
              <a:t>]</a:t>
            </a:r>
          </a:p>
          <a:p>
            <a:pPr algn="l"/>
            <a:r>
              <a:rPr sz="1400" b="0" i="0">
                <a:solidFill>
                  <a:srgbClr val="E6EDF3"/>
                </a:solidFill>
                <a:latin typeface="Consolas"/>
              </a:rPr>
              <a:t> </a:t>
            </a:r>
          </a:p>
          <a:p>
            <a:pPr algn="l"/>
            <a:r>
              <a:rPr sz="1400" b="0" i="0">
                <a:solidFill>
                  <a:srgbClr val="7FB4FF"/>
                </a:solidFill>
                <a:latin typeface="Consolas"/>
              </a:rPr>
              <a:t>def</a:t>
            </a:r>
            <a:r>
              <a:rPr sz="1400" b="0" i="0">
                <a:solidFill>
                  <a:srgbClr val="E6EDF3"/>
                </a:solidFill>
                <a:latin typeface="Consolas"/>
              </a:rPr>
              <a:t> combine(base_kwp, median, mode):</a:t>
            </a:r>
          </a:p>
          <a:p>
            <a:pPr algn="l"/>
            <a:r>
              <a:rPr sz="1400" b="0" i="0">
                <a:solidFill>
                  <a:srgbClr val="E6EDF3"/>
                </a:solidFill>
                <a:latin typeface="Consolas"/>
              </a:rPr>
              <a:t>    </a:t>
            </a:r>
            <a:r>
              <a:rPr sz="1400" b="0" i="0">
                <a:solidFill>
                  <a:srgbClr val="7FB4FF"/>
                </a:solidFill>
                <a:latin typeface="Consolas"/>
              </a:rPr>
              <a:t>if</a:t>
            </a:r>
            <a:r>
              <a:rPr sz="1400" b="0" i="0">
                <a:solidFill>
                  <a:srgbClr val="E6EDF3"/>
                </a:solidFill>
                <a:latin typeface="Consolas"/>
              </a:rPr>
              <a:t> mode == </a:t>
            </a:r>
            <a:r>
              <a:rPr sz="1400" b="0" i="0">
                <a:solidFill>
                  <a:srgbClr val="9FD4A3"/>
                </a:solidFill>
                <a:latin typeface="Consolas"/>
              </a:rPr>
              <a:t>"geo"</a:t>
            </a:r>
            <a:r>
              <a:rPr sz="1400" b="0" i="0">
                <a:solidFill>
                  <a:srgbClr val="E6EDF3"/>
                </a:solidFill>
                <a:latin typeface="Consolas"/>
              </a:rPr>
              <a:t>:</a:t>
            </a:r>
          </a:p>
          <a:p>
            <a:pPr algn="l"/>
            <a:r>
              <a:rPr sz="1400" b="0" i="0">
                <a:solidFill>
                  <a:srgbClr val="E6EDF3"/>
                </a:solidFill>
                <a:latin typeface="Consolas"/>
              </a:rPr>
              <a:t>        </a:t>
            </a:r>
            <a:r>
              <a:rPr sz="1400" b="0" i="0">
                <a:solidFill>
                  <a:srgbClr val="7FB4FF"/>
                </a:solidFill>
                <a:latin typeface="Consolas"/>
              </a:rPr>
              <a:t>return</a:t>
            </a:r>
            <a:r>
              <a:rPr sz="1400" b="0" i="0">
                <a:solidFill>
                  <a:srgbClr val="E6EDF3"/>
                </a:solidFill>
                <a:latin typeface="Consolas"/>
              </a:rPr>
              <a:t> math.sqrt(base_kwp * median)</a:t>
            </a:r>
          </a:p>
        </p:txBody>
      </p:sp>
      <p:sp>
        <p:nvSpPr>
          <p:cNvPr id="21" name="Task 3 facts"/>
          <p:cNvSpPr txBox="1"/>
          <p:nvPr/>
        </p:nvSpPr>
        <p:spPr>
          <a:xfrm>
            <a:off x="548640" y="5806440"/>
            <a:ext cx="6766560" cy="685800"/>
          </a:xfrm>
          <a:prstGeom prst="rect">
            <a:avLst/>
          </a:prstGeom>
          <a:noFill/>
        </p:spPr>
        <p:txBody>
          <a:bodyPr wrap="square" lIns="0" tIns="0" rIns="0" bIns="0" anchor="t">
            <a:spAutoFit/>
          </a:bodyPr>
          <a:lstStyle/>
          <a:p>
            <a:pPr algn="l"/>
            <a:r>
              <a:rPr sz="1500" b="1" i="0">
                <a:solidFill>
                  <a:schemeClr val="tx2"/>
                </a:solidFill>
              </a:rPr>
              <a:t>P = 0.429</a:t>
            </a:r>
            <a:r>
              <a:rPr sz="1500" b="0" i="0">
                <a:solidFill>
                  <a:schemeClr val="accent4"/>
                </a:solidFill>
              </a:rPr>
              <a:t>  ·  median error 22%  ·  9 of 20 within 20%  ·  the median alone gives 0.415</a:t>
            </a:r>
          </a:p>
        </p:txBody>
      </p:sp>
      <p:sp>
        <p:nvSpPr>
          <p:cNvPr id="23" name="PLACEHOLDER label Figure 2b"/>
          <p:cNvSpPr txBox="1"/>
          <p:nvPr/>
        </p:nvSpPr>
        <p:spPr>
          <a:xfrm>
            <a:off x="8010144" y="5067817"/>
            <a:ext cx="3456432" cy="651460"/>
          </a:xfrm>
          <a:prstGeom prst="rect">
            <a:avLst/>
          </a:prstGeom>
          <a:noFill/>
        </p:spPr>
        <p:txBody>
          <a:bodyPr wrap="square" lIns="0" tIns="0" rIns="0" bIns="0" anchor="ctr">
            <a:spAutoFit/>
          </a:bodyPr>
          <a:lstStyle/>
          <a:p>
            <a:pPr algn="ctr">
              <a:spcAft>
                <a:spcPts val="400"/>
              </a:spcAft>
            </a:pPr>
            <a:r>
              <a:rPr sz="1600" b="1" i="0" dirty="0">
                <a:solidFill>
                  <a:schemeClr val="accent4"/>
                </a:solidFill>
              </a:rPr>
              <a:t>Figure 2b</a:t>
            </a:r>
            <a:r>
              <a:rPr lang="it-IT" sz="1600" b="1" i="0" dirty="0">
                <a:solidFill>
                  <a:schemeClr val="accent4"/>
                </a:solidFill>
              </a:rPr>
              <a:t>: </a:t>
            </a:r>
            <a:r>
              <a:rPr sz="1200" b="0" i="0" dirty="0">
                <a:solidFill>
                  <a:schemeClr val="accent4"/>
                </a:solidFill>
              </a:rPr>
              <a:t>Estimated vs true capacity for the 20 detected PV customers (dashed lines: ±50%)</a:t>
            </a:r>
          </a:p>
          <a:p>
            <a:pPr algn="ctr">
              <a:spcAft>
                <a:spcPts val="400"/>
              </a:spcAft>
            </a:pPr>
            <a:endParaRPr sz="1100" b="0" i="1" dirty="0">
              <a:solidFill>
                <a:schemeClr val="accent2"/>
              </a:solidFill>
            </a:endParaRPr>
          </a:p>
        </p:txBody>
      </p:sp>
      <p:pic>
        <p:nvPicPr>
          <p:cNvPr id="25" name="Picture 24">
            <a:extLst>
              <a:ext uri="{FF2B5EF4-FFF2-40B4-BE49-F238E27FC236}">
                <a16:creationId xmlns:a16="http://schemas.microsoft.com/office/drawing/2014/main" id="{902A15CC-3E6D-75F0-D16F-2AD3630B0C43}"/>
              </a:ext>
            </a:extLst>
          </p:cNvPr>
          <p:cNvPicPr>
            <a:picLocks noChangeAspect="1"/>
          </p:cNvPicPr>
          <p:nvPr/>
        </p:nvPicPr>
        <p:blipFill>
          <a:blip r:embed="rId3"/>
          <a:stretch>
            <a:fillRect/>
          </a:stretch>
        </p:blipFill>
        <p:spPr>
          <a:xfrm>
            <a:off x="7680960" y="1443990"/>
            <a:ext cx="4114800" cy="333375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64240" cy="658368"/>
          </a:xfrm>
        </p:spPr>
        <p:txBody>
          <a:bodyPr wrap="square" lIns="0" tIns="0" rIns="0" bIns="0" anchor="t"/>
          <a:lstStyle/>
          <a:p>
            <a:pPr algn="l"/>
            <a:r>
              <a:rPr sz="3600" b="1">
                <a:solidFill>
                  <a:schemeClr val="tx2"/>
                </a:solidFill>
              </a:rPr>
              <a:t>Challenges</a:t>
            </a:r>
          </a:p>
        </p:txBody>
      </p:sp>
      <p:sp>
        <p:nvSpPr>
          <p:cNvPr id="3" name="Tagline"/>
          <p:cNvSpPr txBox="1"/>
          <p:nvPr/>
        </p:nvSpPr>
        <p:spPr>
          <a:xfrm>
            <a:off x="548640" y="1042415"/>
            <a:ext cx="11064240" cy="411480"/>
          </a:xfrm>
          <a:prstGeom prst="rect">
            <a:avLst/>
          </a:prstGeom>
          <a:noFill/>
        </p:spPr>
        <p:txBody>
          <a:bodyPr wrap="square" lIns="0" tIns="0" rIns="0" bIns="0" anchor="t">
            <a:spAutoFit/>
          </a:bodyPr>
          <a:lstStyle/>
          <a:p>
            <a:pPr algn="l"/>
            <a:r>
              <a:rPr sz="1800" b="0" i="1">
                <a:solidFill>
                  <a:schemeClr val="accent2"/>
                </a:solidFill>
              </a:rPr>
              <a:t>What made it hard, and how we handled it</a:t>
            </a:r>
          </a:p>
        </p:txBody>
      </p:sp>
      <p:sp>
        <p:nvSpPr>
          <p:cNvPr id="4" name="Card Big, dirty data"/>
          <p:cNvSpPr/>
          <p:nvPr/>
        </p:nvSpPr>
        <p:spPr>
          <a:xfrm>
            <a:off x="548640" y="1691640"/>
            <a:ext cx="3200400" cy="221284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Badge 1"/>
          <p:cNvSpPr/>
          <p:nvPr/>
        </p:nvSpPr>
        <p:spPr>
          <a:xfrm>
            <a:off x="777240" y="192024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tx2"/>
                </a:solidFill>
              </a:rPr>
              <a:t>1</a:t>
            </a:r>
          </a:p>
        </p:txBody>
      </p:sp>
      <p:sp>
        <p:nvSpPr>
          <p:cNvPr id="6" name="Card text Big, dirty data"/>
          <p:cNvSpPr txBox="1"/>
          <p:nvPr/>
        </p:nvSpPr>
        <p:spPr>
          <a:xfrm>
            <a:off x="777240" y="2404872"/>
            <a:ext cx="2788920" cy="1463040"/>
          </a:xfrm>
          <a:prstGeom prst="rect">
            <a:avLst/>
          </a:prstGeom>
          <a:noFill/>
        </p:spPr>
        <p:txBody>
          <a:bodyPr wrap="square" lIns="0" tIns="0" rIns="0" bIns="0" anchor="t">
            <a:spAutoFit/>
          </a:bodyPr>
          <a:lstStyle/>
          <a:p>
            <a:pPr algn="l">
              <a:spcAft>
                <a:spcPts val="300"/>
              </a:spcAft>
            </a:pPr>
            <a:r>
              <a:rPr sz="1600" b="1" i="0">
                <a:solidFill>
                  <a:schemeClr val="tx2"/>
                </a:solidFill>
              </a:rPr>
              <a:t>Big, dirty data</a:t>
            </a:r>
          </a:p>
          <a:p>
            <a:pPr algn="l">
              <a:spcAft>
                <a:spcPts val="300"/>
              </a:spcAft>
            </a:pPr>
            <a:r>
              <a:rPr sz="1400" b="0" i="0">
                <a:solidFill>
                  <a:schemeClr val="accent4"/>
                </a:solidFill>
              </a:rPr>
              <a:t>7.9 GB file: DuckDB capped at 4 GB, sorted per customer. Non-POD ids removed, negative kWh → 0, gaps kept as NaN.</a:t>
            </a:r>
          </a:p>
        </p:txBody>
      </p:sp>
      <p:sp>
        <p:nvSpPr>
          <p:cNvPr id="7" name="Card Midday saturation"/>
          <p:cNvSpPr/>
          <p:nvPr/>
        </p:nvSpPr>
        <p:spPr>
          <a:xfrm>
            <a:off x="3950208" y="1691640"/>
            <a:ext cx="3200400" cy="221284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Badge 2"/>
          <p:cNvSpPr/>
          <p:nvPr/>
        </p:nvSpPr>
        <p:spPr>
          <a:xfrm>
            <a:off x="4178808" y="1920240"/>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tx2"/>
                </a:solidFill>
              </a:rPr>
              <a:t>2</a:t>
            </a:r>
          </a:p>
        </p:txBody>
      </p:sp>
      <p:sp>
        <p:nvSpPr>
          <p:cNvPr id="9" name="Card text Midday saturation"/>
          <p:cNvSpPr txBox="1"/>
          <p:nvPr/>
        </p:nvSpPr>
        <p:spPr>
          <a:xfrm>
            <a:off x="4178808" y="2404872"/>
            <a:ext cx="2788920" cy="1463040"/>
          </a:xfrm>
          <a:prstGeom prst="rect">
            <a:avLst/>
          </a:prstGeom>
          <a:noFill/>
        </p:spPr>
        <p:txBody>
          <a:bodyPr wrap="square" lIns="0" tIns="0" rIns="0" bIns="0" anchor="t">
            <a:spAutoFit/>
          </a:bodyPr>
          <a:lstStyle/>
          <a:p>
            <a:pPr algn="l">
              <a:spcAft>
                <a:spcPts val="300"/>
              </a:spcAft>
            </a:pPr>
            <a:r>
              <a:rPr sz="1600" b="1" i="0">
                <a:solidFill>
                  <a:schemeClr val="tx2"/>
                </a:solidFill>
              </a:rPr>
              <a:t>Midday saturation</a:t>
            </a:r>
          </a:p>
          <a:p>
            <a:pPr algn="l">
              <a:spcAft>
                <a:spcPts val="300"/>
              </a:spcAft>
            </a:pPr>
            <a:r>
              <a:rPr sz="1400" b="0" i="0">
                <a:solidFill>
                  <a:schemeClr val="accent4"/>
                </a:solidFill>
              </a:rPr>
              <a:t>The meter stops at zero, so large plants look smaller than they are: capacity stays hard.</a:t>
            </a:r>
          </a:p>
        </p:txBody>
      </p:sp>
      <p:sp>
        <p:nvSpPr>
          <p:cNvPr id="10" name="Card 1,147 unlabelled customers"/>
          <p:cNvSpPr/>
          <p:nvPr/>
        </p:nvSpPr>
        <p:spPr>
          <a:xfrm>
            <a:off x="548640" y="4087368"/>
            <a:ext cx="3200400" cy="221284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Badge 3"/>
          <p:cNvSpPr/>
          <p:nvPr/>
        </p:nvSpPr>
        <p:spPr>
          <a:xfrm>
            <a:off x="777240" y="4315968"/>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tx2"/>
                </a:solidFill>
              </a:rPr>
              <a:t>3</a:t>
            </a:r>
          </a:p>
        </p:txBody>
      </p:sp>
      <p:sp>
        <p:nvSpPr>
          <p:cNvPr id="12" name="Card text 1,147 unlabelled customers"/>
          <p:cNvSpPr txBox="1"/>
          <p:nvPr/>
        </p:nvSpPr>
        <p:spPr>
          <a:xfrm>
            <a:off x="777240" y="4800600"/>
            <a:ext cx="2788920" cy="1463040"/>
          </a:xfrm>
          <a:prstGeom prst="rect">
            <a:avLst/>
          </a:prstGeom>
          <a:noFill/>
        </p:spPr>
        <p:txBody>
          <a:bodyPr wrap="square" lIns="0" tIns="0" rIns="0" bIns="0" anchor="t">
            <a:spAutoFit/>
          </a:bodyPr>
          <a:lstStyle/>
          <a:p>
            <a:pPr algn="l">
              <a:spcAft>
                <a:spcPts val="300"/>
              </a:spcAft>
            </a:pPr>
            <a:r>
              <a:rPr sz="1600" b="1" i="0">
                <a:solidFill>
                  <a:schemeClr val="tx2"/>
                </a:solidFill>
              </a:rPr>
              <a:t>1,147 unlabelled customers</a:t>
            </a:r>
          </a:p>
          <a:p>
            <a:pPr algn="l">
              <a:spcAft>
                <a:spcPts val="300"/>
              </a:spcAft>
            </a:pPr>
            <a:r>
              <a:rPr sz="1400" b="0" i="0">
                <a:solidFill>
                  <a:schemeClr val="accent4"/>
                </a:solidFill>
              </a:rPr>
              <a:t>34% flagged as PV. Otsu cut at 1.08 vs our 0.85: about 7% false alarms possible. Pseudo-labels: not one decision changed.</a:t>
            </a:r>
          </a:p>
        </p:txBody>
      </p:sp>
      <p:sp>
        <p:nvSpPr>
          <p:cNvPr id="13" name="Card Malformed test rows"/>
          <p:cNvSpPr/>
          <p:nvPr/>
        </p:nvSpPr>
        <p:spPr>
          <a:xfrm>
            <a:off x="3950208" y="4087368"/>
            <a:ext cx="3200400" cy="2212848"/>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Badge 4"/>
          <p:cNvSpPr/>
          <p:nvPr/>
        </p:nvSpPr>
        <p:spPr>
          <a:xfrm>
            <a:off x="4178808" y="4315968"/>
            <a:ext cx="365760" cy="36576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tx2"/>
                </a:solidFill>
              </a:rPr>
              <a:t>4</a:t>
            </a:r>
          </a:p>
        </p:txBody>
      </p:sp>
      <p:sp>
        <p:nvSpPr>
          <p:cNvPr id="15" name="Card text Malformed test rows"/>
          <p:cNvSpPr txBox="1"/>
          <p:nvPr/>
        </p:nvSpPr>
        <p:spPr>
          <a:xfrm>
            <a:off x="4178808" y="4800600"/>
            <a:ext cx="2788920" cy="1463040"/>
          </a:xfrm>
          <a:prstGeom prst="rect">
            <a:avLst/>
          </a:prstGeom>
          <a:noFill/>
        </p:spPr>
        <p:txBody>
          <a:bodyPr wrap="square" lIns="0" tIns="0" rIns="0" bIns="0" anchor="t">
            <a:spAutoFit/>
          </a:bodyPr>
          <a:lstStyle/>
          <a:p>
            <a:pPr algn="l">
              <a:spcAft>
                <a:spcPts val="300"/>
              </a:spcAft>
            </a:pPr>
            <a:r>
              <a:rPr sz="1600" b="1" i="0">
                <a:solidFill>
                  <a:schemeClr val="tx2"/>
                </a:solidFill>
              </a:rPr>
              <a:t>Malformed test rows</a:t>
            </a:r>
          </a:p>
          <a:p>
            <a:pPr algn="l">
              <a:spcAft>
                <a:spcPts val="300"/>
              </a:spcAft>
            </a:pPr>
            <a:r>
              <a:rPr sz="1400" b="0" i="0">
                <a:solidFill>
                  <a:schemeClr val="accent4"/>
                </a:solidFill>
              </a:rPr>
              <a:t>One bad timestamp crashed the script. Now a tolerant reader and fallbacks always write one row per customer.</a:t>
            </a:r>
          </a:p>
        </p:txBody>
      </p:sp>
      <p:sp>
        <p:nvSpPr>
          <p:cNvPr id="16" name="Code panel inference.py · main (simplified)"/>
          <p:cNvSpPr/>
          <p:nvPr/>
        </p:nvSpPr>
        <p:spPr>
          <a:xfrm>
            <a:off x="7498079" y="1691640"/>
            <a:ext cx="4142232" cy="3429000"/>
          </a:xfrm>
          <a:prstGeom prst="roundRect">
            <a:avLst>
              <a:gd name="adj" fmla="val 4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Code panel dot"/>
          <p:cNvSpPr/>
          <p:nvPr/>
        </p:nvSpPr>
        <p:spPr>
          <a:xfrm>
            <a:off x="7726679" y="1874520"/>
            <a:ext cx="118872" cy="118872"/>
          </a:xfrm>
          <a:prstGeom prst="ellipse">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ode panel dot"/>
          <p:cNvSpPr/>
          <p:nvPr/>
        </p:nvSpPr>
        <p:spPr>
          <a:xfrm>
            <a:off x="7927848" y="1874520"/>
            <a:ext cx="118872" cy="118872"/>
          </a:xfrm>
          <a:prstGeom prst="ellipse">
            <a:avLst/>
          </a:prstGeom>
          <a:solidFill>
            <a:srgbClr val="9AA4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ode panel dot"/>
          <p:cNvSpPr/>
          <p:nvPr/>
        </p:nvSpPr>
        <p:spPr>
          <a:xfrm>
            <a:off x="8129015" y="1874520"/>
            <a:ext cx="118872" cy="118872"/>
          </a:xfrm>
          <a:prstGeom prst="ellipse">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Code file name"/>
          <p:cNvSpPr txBox="1"/>
          <p:nvPr/>
        </p:nvSpPr>
        <p:spPr>
          <a:xfrm>
            <a:off x="8412480" y="1783080"/>
            <a:ext cx="2999232" cy="292608"/>
          </a:xfrm>
          <a:prstGeom prst="rect">
            <a:avLst/>
          </a:prstGeom>
          <a:noFill/>
        </p:spPr>
        <p:txBody>
          <a:bodyPr wrap="square" lIns="0" tIns="0" rIns="0" bIns="0" anchor="ctr">
            <a:spAutoFit/>
          </a:bodyPr>
          <a:lstStyle/>
          <a:p>
            <a:pPr algn="l"/>
            <a:r>
              <a:rPr sz="1200" b="0" i="0">
                <a:solidFill>
                  <a:schemeClr val="accent1"/>
                </a:solidFill>
                <a:latin typeface="Consolas"/>
              </a:rPr>
              <a:t>inference.py · main (simplified)</a:t>
            </a:r>
          </a:p>
        </p:txBody>
      </p:sp>
      <p:sp>
        <p:nvSpPr>
          <p:cNvPr id="21" name="Code"/>
          <p:cNvSpPr txBox="1"/>
          <p:nvPr/>
        </p:nvSpPr>
        <p:spPr>
          <a:xfrm>
            <a:off x="7772400" y="2194560"/>
            <a:ext cx="3685032" cy="2788920"/>
          </a:xfrm>
          <a:prstGeom prst="rect">
            <a:avLst/>
          </a:prstGeom>
          <a:noFill/>
        </p:spPr>
        <p:txBody>
          <a:bodyPr wrap="square" lIns="0" tIns="0" rIns="0" bIns="0" anchor="t">
            <a:spAutoFit/>
          </a:bodyPr>
          <a:lstStyle/>
          <a:p>
            <a:pPr algn="l"/>
            <a:r>
              <a:rPr sz="1250" b="0" i="0">
                <a:solidFill>
                  <a:srgbClr val="7FB4FF"/>
                </a:solidFill>
                <a:latin typeface="Consolas"/>
              </a:rPr>
              <a:t>try</a:t>
            </a:r>
            <a:r>
              <a:rPr sz="1250" b="0" i="0">
                <a:solidFill>
                  <a:srgbClr val="E6EDF3"/>
                </a:solidFill>
                <a:latin typeface="Consolas"/>
              </a:rPr>
              <a:t>:</a:t>
            </a:r>
          </a:p>
          <a:p>
            <a:pPr algn="l"/>
            <a:r>
              <a:rPr sz="1250" b="0" i="0">
                <a:solidFill>
                  <a:srgbClr val="E6EDF3"/>
                </a:solidFill>
                <a:latin typeface="Consolas"/>
              </a:rPr>
              <a:t>    df, all_ids = read_test(path)</a:t>
            </a:r>
          </a:p>
          <a:p>
            <a:pPr algn="l"/>
            <a:r>
              <a:rPr sz="1250" b="0" i="0">
                <a:solidFill>
                  <a:srgbClr val="E6EDF3"/>
                </a:solidFill>
                <a:latin typeface="Consolas"/>
              </a:rPr>
              <a:t>    rows = predict_all(df, used, all_ids)</a:t>
            </a:r>
          </a:p>
          <a:p>
            <a:pPr algn="l"/>
            <a:r>
              <a:rPr sz="1250" b="0" i="0">
                <a:solidFill>
                  <a:srgbClr val="E6EDF3"/>
                </a:solidFill>
                <a:latin typeface="Consolas"/>
              </a:rPr>
              <a:t>    ext_rows = predict_extensions_all(</a:t>
            </a:r>
          </a:p>
          <a:p>
            <a:pPr algn="l"/>
            <a:r>
              <a:rPr sz="1250" b="0" i="0">
                <a:solidFill>
                  <a:srgbClr val="E6EDF3"/>
                </a:solidFill>
                <a:latin typeface="Consolas"/>
              </a:rPr>
              <a:t>        df, rows, used)</a:t>
            </a:r>
          </a:p>
          <a:p>
            <a:pPr algn="l"/>
            <a:r>
              <a:rPr sz="1250" b="0" i="0">
                <a:solidFill>
                  <a:srgbClr val="7FB4FF"/>
                </a:solidFill>
                <a:latin typeface="Consolas"/>
              </a:rPr>
              <a:t>except</a:t>
            </a:r>
            <a:r>
              <a:rPr sz="1250" b="0" i="0">
                <a:solidFill>
                  <a:srgbClr val="E6EDF3"/>
                </a:solidFill>
                <a:latin typeface="Consolas"/>
              </a:rPr>
              <a:t> Exception </a:t>
            </a:r>
            <a:r>
              <a:rPr sz="1250" b="0" i="0">
                <a:solidFill>
                  <a:srgbClr val="7FB4FF"/>
                </a:solidFill>
                <a:latin typeface="Consolas"/>
              </a:rPr>
              <a:t>as</a:t>
            </a:r>
            <a:r>
              <a:rPr sz="1250" b="0" i="0">
                <a:solidFill>
                  <a:srgbClr val="E6EDF3"/>
                </a:solidFill>
                <a:latin typeface="Consolas"/>
              </a:rPr>
              <a:t> e:</a:t>
            </a:r>
          </a:p>
          <a:p>
            <a:pPr algn="l"/>
            <a:r>
              <a:rPr sz="1250" b="0" i="0">
                <a:solidFill>
                  <a:srgbClr val="E6EDF3"/>
                </a:solidFill>
                <a:latin typeface="Consolas"/>
              </a:rPr>
              <a:t>    </a:t>
            </a:r>
            <a:r>
              <a:rPr sz="1250" b="0" i="1">
                <a:solidFill>
                  <a:srgbClr val="8B9AB0"/>
                </a:solidFill>
                <a:latin typeface="Consolas"/>
              </a:rPr>
              <a:t># safety net: predictions.csv</a:t>
            </a:r>
          </a:p>
          <a:p>
            <a:pPr algn="l"/>
            <a:r>
              <a:rPr sz="1250" b="0" i="0">
                <a:solidFill>
                  <a:srgbClr val="E6EDF3"/>
                </a:solidFill>
                <a:latin typeface="Consolas"/>
              </a:rPr>
              <a:t>    </a:t>
            </a:r>
            <a:r>
              <a:rPr sz="1250" b="0" i="1">
                <a:solidFill>
                  <a:srgbClr val="8B9AB0"/>
                </a:solidFill>
                <a:latin typeface="Consolas"/>
              </a:rPr>
              <a:t># is written in any case</a:t>
            </a:r>
          </a:p>
          <a:p>
            <a:pPr algn="l"/>
            <a:r>
              <a:rPr sz="1250" b="0" i="0">
                <a:solidFill>
                  <a:srgbClr val="E6EDF3"/>
                </a:solidFill>
                <a:latin typeface="Consolas"/>
              </a:rPr>
              <a:t>    rows = fallback_rows(ids)  </a:t>
            </a:r>
            <a:r>
              <a:rPr sz="1250" b="0" i="1">
                <a:solidFill>
                  <a:srgbClr val="8B9AB0"/>
                </a:solidFill>
                <a:latin typeface="Consolas"/>
              </a:rPr>
              <a:t># all TRUE</a:t>
            </a:r>
          </a:p>
          <a:p>
            <a:pPr algn="l"/>
            <a:r>
              <a:rPr sz="1250" b="0" i="0">
                <a:solidFill>
                  <a:srgbClr val="E6EDF3"/>
                </a:solidFill>
                <a:latin typeface="Consolas"/>
              </a:rPr>
              <a:t>    ext_rows = []</a:t>
            </a:r>
          </a:p>
          <a:p>
            <a:pPr algn="l"/>
            <a:r>
              <a:rPr sz="1250" b="0" i="0">
                <a:solidFill>
                  <a:srgbClr val="E6EDF3"/>
                </a:solidFill>
                <a:latin typeface="Consolas"/>
              </a:rPr>
              <a:t>write_outputs(rows, ext_rows)</a:t>
            </a:r>
          </a:p>
        </p:txBody>
      </p:sp>
      <p:sp>
        <p:nvSpPr>
          <p:cNvPr id="22" name="Stat automated, on synthetic data only"/>
          <p:cNvSpPr/>
          <p:nvPr/>
        </p:nvSpPr>
        <p:spPr>
          <a:xfrm>
            <a:off x="7498079" y="5294376"/>
            <a:ext cx="4142232" cy="10058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tat value"/>
          <p:cNvSpPr txBox="1"/>
          <p:nvPr/>
        </p:nvSpPr>
        <p:spPr>
          <a:xfrm>
            <a:off x="7680959" y="5385816"/>
            <a:ext cx="3776472" cy="553212"/>
          </a:xfrm>
          <a:prstGeom prst="rect">
            <a:avLst/>
          </a:prstGeom>
          <a:noFill/>
        </p:spPr>
        <p:txBody>
          <a:bodyPr wrap="square" lIns="0" tIns="0" rIns="0" bIns="0" anchor="b">
            <a:spAutoFit/>
          </a:bodyPr>
          <a:lstStyle/>
          <a:p>
            <a:pPr algn="l"/>
            <a:r>
              <a:rPr sz="3000" b="1" i="0">
                <a:solidFill>
                  <a:schemeClr val="tx2"/>
                </a:solidFill>
              </a:rPr>
              <a:t>214 tests</a:t>
            </a:r>
          </a:p>
        </p:txBody>
      </p:sp>
      <p:sp>
        <p:nvSpPr>
          <p:cNvPr id="24" name="Stat label"/>
          <p:cNvSpPr txBox="1"/>
          <p:nvPr/>
        </p:nvSpPr>
        <p:spPr>
          <a:xfrm>
            <a:off x="7680959" y="5917996"/>
            <a:ext cx="3776472" cy="362102"/>
          </a:xfrm>
          <a:prstGeom prst="rect">
            <a:avLst/>
          </a:prstGeom>
          <a:noFill/>
        </p:spPr>
        <p:txBody>
          <a:bodyPr wrap="square" lIns="0" tIns="0" rIns="0" bIns="0" anchor="t">
            <a:spAutoFit/>
          </a:bodyPr>
          <a:lstStyle/>
          <a:p>
            <a:pPr algn="l"/>
            <a:r>
              <a:rPr sz="1200" b="0" i="0">
                <a:solidFill>
                  <a:schemeClr val="accent4"/>
                </a:solidFill>
              </a:rPr>
              <a:t>automated, on synthetic data only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84048"/>
            <a:ext cx="11064240" cy="658368"/>
          </a:xfrm>
        </p:spPr>
        <p:txBody>
          <a:bodyPr wrap="square" lIns="0" tIns="0" rIns="0" bIns="0" anchor="t"/>
          <a:lstStyle/>
          <a:p>
            <a:pPr algn="l"/>
            <a:r>
              <a:rPr sz="3600" b="1">
                <a:solidFill>
                  <a:schemeClr val="bg1"/>
                </a:solidFill>
              </a:rPr>
              <a:t>Results</a:t>
            </a:r>
          </a:p>
        </p:txBody>
      </p:sp>
      <p:sp>
        <p:nvSpPr>
          <p:cNvPr id="3" name="Tagline"/>
          <p:cNvSpPr txBox="1"/>
          <p:nvPr/>
        </p:nvSpPr>
        <p:spPr>
          <a:xfrm>
            <a:off x="548640" y="1042415"/>
            <a:ext cx="11064240" cy="411480"/>
          </a:xfrm>
          <a:prstGeom prst="rect">
            <a:avLst/>
          </a:prstGeom>
          <a:noFill/>
        </p:spPr>
        <p:txBody>
          <a:bodyPr wrap="square" lIns="0" tIns="0" rIns="0" bIns="0" anchor="t">
            <a:spAutoFit/>
          </a:bodyPr>
          <a:lstStyle/>
          <a:p>
            <a:pPr algn="l"/>
            <a:r>
              <a:rPr sz="1800" b="0" i="1">
                <a:solidFill>
                  <a:schemeClr val="accent1"/>
                </a:solidFill>
              </a:rPr>
              <a:t>Leave-one-customer-out on the 40 labelled customers, full 2022–2025 series</a:t>
            </a:r>
          </a:p>
        </p:txBody>
      </p:sp>
      <p:sp>
        <p:nvSpPr>
          <p:cNvPr id="4" name="Big score"/>
          <p:cNvSpPr txBox="1"/>
          <p:nvPr/>
        </p:nvSpPr>
        <p:spPr>
          <a:xfrm>
            <a:off x="548640" y="1645920"/>
            <a:ext cx="5120640" cy="1234440"/>
          </a:xfrm>
          <a:prstGeom prst="rect">
            <a:avLst/>
          </a:prstGeom>
          <a:noFill/>
        </p:spPr>
        <p:txBody>
          <a:bodyPr wrap="square" lIns="0" tIns="0" rIns="0" bIns="0" anchor="ctr">
            <a:spAutoFit/>
          </a:bodyPr>
          <a:lstStyle/>
          <a:p>
            <a:pPr algn="l"/>
            <a:r>
              <a:rPr sz="8000" b="1" i="0">
                <a:solidFill>
                  <a:schemeClr val="accent1"/>
                </a:solidFill>
              </a:rPr>
              <a:t>81.82</a:t>
            </a:r>
          </a:p>
        </p:txBody>
      </p:sp>
      <p:sp>
        <p:nvSpPr>
          <p:cNvPr id="5" name="Score explanation"/>
          <p:cNvSpPr txBox="1"/>
          <p:nvPr/>
        </p:nvSpPr>
        <p:spPr>
          <a:xfrm>
            <a:off x="548640" y="2880360"/>
            <a:ext cx="5120640" cy="822960"/>
          </a:xfrm>
          <a:prstGeom prst="rect">
            <a:avLst/>
          </a:prstGeom>
          <a:noFill/>
        </p:spPr>
        <p:txBody>
          <a:bodyPr wrap="square" lIns="0" tIns="0" rIns="0" bIns="0" anchor="t">
            <a:spAutoFit/>
          </a:bodyPr>
          <a:lstStyle/>
          <a:p>
            <a:pPr algn="l"/>
            <a:r>
              <a:rPr sz="1500" b="1" i="0">
                <a:solidFill>
                  <a:schemeClr val="bg1"/>
                </a:solidFill>
              </a:rPr>
              <a:t>Official score</a:t>
            </a:r>
          </a:p>
          <a:p>
            <a:pPr algn="l"/>
            <a:r>
              <a:rPr sz="1500" b="0" i="0">
                <a:solidFill>
                  <a:srgbClr val="CADCFC"/>
                </a:solidFill>
              </a:rPr>
              <a:t>F1 × (70 + 15·D + 15·P)   ·   baseline 54.58</a:t>
            </a:r>
          </a:p>
        </p:txBody>
      </p:sp>
      <p:sp>
        <p:nvSpPr>
          <p:cNvPr id="6" name="Stat F1 · detection"/>
          <p:cNvSpPr/>
          <p:nvPr/>
        </p:nvSpPr>
        <p:spPr>
          <a:xfrm>
            <a:off x="548640" y="3931920"/>
            <a:ext cx="1572768" cy="105156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tat value"/>
          <p:cNvSpPr txBox="1"/>
          <p:nvPr/>
        </p:nvSpPr>
        <p:spPr>
          <a:xfrm>
            <a:off x="731520" y="4023359"/>
            <a:ext cx="1207007" cy="578358"/>
          </a:xfrm>
          <a:prstGeom prst="rect">
            <a:avLst/>
          </a:prstGeom>
          <a:noFill/>
        </p:spPr>
        <p:txBody>
          <a:bodyPr wrap="square" lIns="0" tIns="0" rIns="0" bIns="0" anchor="b">
            <a:spAutoFit/>
          </a:bodyPr>
          <a:lstStyle/>
          <a:p>
            <a:pPr algn="l"/>
            <a:r>
              <a:rPr sz="2600" b="1" i="0">
                <a:solidFill>
                  <a:schemeClr val="accent1"/>
                </a:solidFill>
              </a:rPr>
              <a:t>0.952</a:t>
            </a:r>
          </a:p>
        </p:txBody>
      </p:sp>
      <p:sp>
        <p:nvSpPr>
          <p:cNvPr id="8" name="Stat label"/>
          <p:cNvSpPr txBox="1"/>
          <p:nvPr/>
        </p:nvSpPr>
        <p:spPr>
          <a:xfrm>
            <a:off x="731520" y="4583887"/>
            <a:ext cx="1207007" cy="378561"/>
          </a:xfrm>
          <a:prstGeom prst="rect">
            <a:avLst/>
          </a:prstGeom>
          <a:noFill/>
        </p:spPr>
        <p:txBody>
          <a:bodyPr wrap="square" lIns="0" tIns="0" rIns="0" bIns="0" anchor="t">
            <a:spAutoFit/>
          </a:bodyPr>
          <a:lstStyle/>
          <a:p>
            <a:pPr algn="l"/>
            <a:r>
              <a:rPr sz="1200" b="0" i="0">
                <a:solidFill>
                  <a:schemeClr val="bg1"/>
                </a:solidFill>
              </a:rPr>
              <a:t>F1 · detection</a:t>
            </a:r>
          </a:p>
        </p:txBody>
      </p:sp>
      <p:sp>
        <p:nvSpPr>
          <p:cNvPr id="9" name="Stat D · date"/>
          <p:cNvSpPr/>
          <p:nvPr/>
        </p:nvSpPr>
        <p:spPr>
          <a:xfrm>
            <a:off x="2286000" y="3931920"/>
            <a:ext cx="1572768" cy="105156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at value"/>
          <p:cNvSpPr txBox="1"/>
          <p:nvPr/>
        </p:nvSpPr>
        <p:spPr>
          <a:xfrm>
            <a:off x="2468880" y="4023359"/>
            <a:ext cx="1207007" cy="578358"/>
          </a:xfrm>
          <a:prstGeom prst="rect">
            <a:avLst/>
          </a:prstGeom>
          <a:noFill/>
        </p:spPr>
        <p:txBody>
          <a:bodyPr wrap="square" lIns="0" tIns="0" rIns="0" bIns="0" anchor="b">
            <a:spAutoFit/>
          </a:bodyPr>
          <a:lstStyle/>
          <a:p>
            <a:pPr algn="l"/>
            <a:r>
              <a:rPr sz="2600" b="1" i="0">
                <a:solidFill>
                  <a:schemeClr val="accent1"/>
                </a:solidFill>
              </a:rPr>
              <a:t>0.632</a:t>
            </a:r>
          </a:p>
        </p:txBody>
      </p:sp>
      <p:sp>
        <p:nvSpPr>
          <p:cNvPr id="11" name="Stat label"/>
          <p:cNvSpPr txBox="1"/>
          <p:nvPr/>
        </p:nvSpPr>
        <p:spPr>
          <a:xfrm>
            <a:off x="2468880" y="4583887"/>
            <a:ext cx="1207007" cy="378561"/>
          </a:xfrm>
          <a:prstGeom prst="rect">
            <a:avLst/>
          </a:prstGeom>
          <a:noFill/>
        </p:spPr>
        <p:txBody>
          <a:bodyPr wrap="square" lIns="0" tIns="0" rIns="0" bIns="0" anchor="t">
            <a:spAutoFit/>
          </a:bodyPr>
          <a:lstStyle/>
          <a:p>
            <a:pPr algn="l"/>
            <a:r>
              <a:rPr sz="1200" b="0" i="0">
                <a:solidFill>
                  <a:schemeClr val="bg1"/>
                </a:solidFill>
              </a:rPr>
              <a:t>D · date</a:t>
            </a:r>
          </a:p>
        </p:txBody>
      </p:sp>
      <p:sp>
        <p:nvSpPr>
          <p:cNvPr id="12" name="Stat P · capacity"/>
          <p:cNvSpPr/>
          <p:nvPr/>
        </p:nvSpPr>
        <p:spPr>
          <a:xfrm>
            <a:off x="4023359" y="3931920"/>
            <a:ext cx="1572768" cy="105156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tat value"/>
          <p:cNvSpPr txBox="1"/>
          <p:nvPr/>
        </p:nvSpPr>
        <p:spPr>
          <a:xfrm>
            <a:off x="4206240" y="4023359"/>
            <a:ext cx="1207007" cy="578358"/>
          </a:xfrm>
          <a:prstGeom prst="rect">
            <a:avLst/>
          </a:prstGeom>
          <a:noFill/>
        </p:spPr>
        <p:txBody>
          <a:bodyPr wrap="square" lIns="0" tIns="0" rIns="0" bIns="0" anchor="b">
            <a:spAutoFit/>
          </a:bodyPr>
          <a:lstStyle/>
          <a:p>
            <a:pPr algn="l"/>
            <a:r>
              <a:rPr sz="2600" b="1" i="0">
                <a:solidFill>
                  <a:schemeClr val="accent1"/>
                </a:solidFill>
              </a:rPr>
              <a:t>0.429</a:t>
            </a:r>
          </a:p>
        </p:txBody>
      </p:sp>
      <p:sp>
        <p:nvSpPr>
          <p:cNvPr id="14" name="Stat label"/>
          <p:cNvSpPr txBox="1"/>
          <p:nvPr/>
        </p:nvSpPr>
        <p:spPr>
          <a:xfrm>
            <a:off x="4206240" y="4583887"/>
            <a:ext cx="1207007" cy="378561"/>
          </a:xfrm>
          <a:prstGeom prst="rect">
            <a:avLst/>
          </a:prstGeom>
          <a:noFill/>
        </p:spPr>
        <p:txBody>
          <a:bodyPr wrap="square" lIns="0" tIns="0" rIns="0" bIns="0" anchor="t">
            <a:spAutoFit/>
          </a:bodyPr>
          <a:lstStyle/>
          <a:p>
            <a:pPr algn="l"/>
            <a:r>
              <a:rPr sz="1200" b="0" i="0">
                <a:solidFill>
                  <a:schemeClr val="bg1"/>
                </a:solidFill>
              </a:rPr>
              <a:t>P · capacity</a:t>
            </a:r>
          </a:p>
        </p:txBody>
      </p:sp>
      <p:sp>
        <p:nvSpPr>
          <p:cNvPr id="15" name="Results summary"/>
          <p:cNvSpPr txBox="1"/>
          <p:nvPr/>
        </p:nvSpPr>
        <p:spPr>
          <a:xfrm>
            <a:off x="548640" y="5212080"/>
            <a:ext cx="5120640" cy="1234440"/>
          </a:xfrm>
          <a:prstGeom prst="rect">
            <a:avLst/>
          </a:prstGeom>
          <a:noFill/>
        </p:spPr>
        <p:txBody>
          <a:bodyPr wrap="square" lIns="0" tIns="0" rIns="0" bIns="0" anchor="t">
            <a:spAutoFit/>
          </a:bodyPr>
          <a:lstStyle/>
          <a:p>
            <a:pPr algn="l"/>
            <a:r>
              <a:rPr sz="1400" b="1" i="0">
                <a:solidFill>
                  <a:schemeClr val="bg1"/>
                </a:solidFill>
              </a:rPr>
              <a:t>20 of 22 plants found, 0 false alarms. </a:t>
            </a:r>
            <a:r>
              <a:rPr sz="1400" b="0" i="0">
                <a:solidFill>
                  <a:srgbClr val="CADCFC"/>
                </a:solidFill>
              </a:rPr>
              <a:t>Dates are the strong part (median error 1 day); capacity the weak part (median error 22%).</a:t>
            </a:r>
          </a:p>
        </p:txBody>
      </p:sp>
      <p:graphicFrame>
        <p:nvGraphicFramePr>
          <p:cNvPr id="16" name="Score chart"/>
          <p:cNvGraphicFramePr>
            <a:graphicFrameLocks noGrp="1"/>
          </p:cNvGraphicFramePr>
          <p:nvPr/>
        </p:nvGraphicFramePr>
        <p:xfrm>
          <a:off x="6172200" y="1600200"/>
          <a:ext cx="5468112"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7" name="Chart note"/>
          <p:cNvSpPr txBox="1"/>
          <p:nvPr/>
        </p:nvSpPr>
        <p:spPr>
          <a:xfrm>
            <a:off x="6172200" y="5897880"/>
            <a:ext cx="5468112" cy="548640"/>
          </a:xfrm>
          <a:prstGeom prst="rect">
            <a:avLst/>
          </a:prstGeom>
          <a:noFill/>
        </p:spPr>
        <p:txBody>
          <a:bodyPr wrap="square" lIns="0" tIns="0" rIns="0" bIns="0" anchor="t">
            <a:spAutoFit/>
          </a:bodyPr>
          <a:lstStyle/>
          <a:p>
            <a:pPr algn="l"/>
            <a:r>
              <a:rPr sz="1200" b="0" i="1">
                <a:solidFill>
                  <a:srgbClr val="CADCFC"/>
                </a:solidFill>
              </a:rPr>
              <a:t>2-year windows: robustness check, 77.93 ± 2.42 over 5 rounds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4BE6B-10E2-58C4-F821-976456DE207B}"/>
              </a:ext>
            </a:extLst>
          </p:cNvPr>
          <p:cNvSpPr>
            <a:spLocks noGrp="1"/>
          </p:cNvSpPr>
          <p:nvPr>
            <p:ph type="title"/>
          </p:nvPr>
        </p:nvSpPr>
        <p:spPr/>
        <p:txBody>
          <a:bodyPr/>
          <a:lstStyle/>
          <a:p>
            <a:endParaRPr lang="en-GB"/>
          </a:p>
        </p:txBody>
      </p:sp>
      <p:pic>
        <p:nvPicPr>
          <p:cNvPr id="4" name="Picture 3">
            <a:extLst>
              <a:ext uri="{FF2B5EF4-FFF2-40B4-BE49-F238E27FC236}">
                <a16:creationId xmlns:a16="http://schemas.microsoft.com/office/drawing/2014/main" id="{AD792917-8A82-1C20-61DA-F3CF48884AAB}"/>
              </a:ext>
            </a:extLst>
          </p:cNvPr>
          <p:cNvPicPr>
            <a:picLocks noChangeAspect="1"/>
          </p:cNvPicPr>
          <p:nvPr/>
        </p:nvPicPr>
        <p:blipFill>
          <a:blip r:embed="rId2"/>
          <a:srcRect b="9959"/>
          <a:stretch>
            <a:fillRect/>
          </a:stretch>
        </p:blipFill>
        <p:spPr>
          <a:xfrm>
            <a:off x="1524000" y="682978"/>
            <a:ext cx="9144000" cy="6175022"/>
          </a:xfrm>
          <a:prstGeom prst="rect">
            <a:avLst/>
          </a:prstGeom>
        </p:spPr>
      </p:pic>
      <p:sp>
        <p:nvSpPr>
          <p:cNvPr id="7" name="Rectangle 6">
            <a:extLst>
              <a:ext uri="{FF2B5EF4-FFF2-40B4-BE49-F238E27FC236}">
                <a16:creationId xmlns:a16="http://schemas.microsoft.com/office/drawing/2014/main" id="{F67514FE-D416-9FB9-52D7-739EFB22CC70}"/>
              </a:ext>
            </a:extLst>
          </p:cNvPr>
          <p:cNvSpPr/>
          <p:nvPr/>
        </p:nvSpPr>
        <p:spPr>
          <a:xfrm>
            <a:off x="659013" y="0"/>
            <a:ext cx="10580462" cy="1107996"/>
          </a:xfrm>
          <a:prstGeom prst="rect">
            <a:avLst/>
          </a:prstGeom>
          <a:noFill/>
        </p:spPr>
        <p:txBody>
          <a:bodyPr wrap="none" lIns="91440" tIns="45720" rIns="91440" bIns="45720">
            <a:spAutoFit/>
          </a:bodyPr>
          <a:lstStyle/>
          <a:p>
            <a:pPr algn="ctr"/>
            <a:r>
              <a:rPr lang="it-IT" sz="6600" b="0" cap="none" spc="0" dirty="0">
                <a:ln w="19050">
                  <a:solidFill>
                    <a:schemeClr val="tx1"/>
                  </a:solidFill>
                </a:ln>
                <a:solidFill>
                  <a:schemeClr val="bg1"/>
                </a:solidFill>
                <a:effectLst>
                  <a:outerShdw blurRad="38100" dist="19050" dir="2700000" algn="tl" rotWithShape="0">
                    <a:schemeClr val="dk1">
                      <a:alpha val="40000"/>
                    </a:schemeClr>
                  </a:outerShdw>
                </a:effectLst>
              </a:rPr>
              <a:t>Thank </a:t>
            </a:r>
            <a:r>
              <a:rPr lang="it-IT" sz="6600" b="0" cap="none" spc="0" dirty="0" err="1">
                <a:ln w="19050">
                  <a:solidFill>
                    <a:schemeClr val="tx1"/>
                  </a:solidFill>
                </a:ln>
                <a:solidFill>
                  <a:schemeClr val="bg1"/>
                </a:solidFill>
                <a:effectLst>
                  <a:outerShdw blurRad="38100" dist="19050" dir="2700000" algn="tl" rotWithShape="0">
                    <a:schemeClr val="dk1">
                      <a:alpha val="40000"/>
                    </a:schemeClr>
                  </a:outerShdw>
                </a:effectLst>
              </a:rPr>
              <a:t>you</a:t>
            </a:r>
            <a:r>
              <a:rPr lang="it-IT" sz="6600" b="0" cap="none" spc="0" dirty="0">
                <a:ln w="19050">
                  <a:solidFill>
                    <a:schemeClr val="tx1"/>
                  </a:solidFill>
                </a:ln>
                <a:solidFill>
                  <a:schemeClr val="bg1"/>
                </a:solidFill>
                <a:effectLst>
                  <a:outerShdw blurRad="38100" dist="19050" dir="2700000" algn="tl" rotWithShape="0">
                    <a:schemeClr val="dk1">
                      <a:alpha val="40000"/>
                    </a:schemeClr>
                  </a:outerShdw>
                </a:effectLst>
              </a:rPr>
              <a:t> for </a:t>
            </a:r>
            <a:r>
              <a:rPr lang="it-IT" sz="6600" b="0" cap="none" spc="0" dirty="0" err="1">
                <a:ln w="19050">
                  <a:solidFill>
                    <a:schemeClr val="tx1"/>
                  </a:solidFill>
                </a:ln>
                <a:solidFill>
                  <a:schemeClr val="bg1"/>
                </a:solidFill>
                <a:effectLst>
                  <a:outerShdw blurRad="38100" dist="19050" dir="2700000" algn="tl" rotWithShape="0">
                    <a:schemeClr val="dk1">
                      <a:alpha val="40000"/>
                    </a:schemeClr>
                  </a:outerShdw>
                </a:effectLst>
              </a:rPr>
              <a:t>your</a:t>
            </a:r>
            <a:r>
              <a:rPr lang="it-IT" sz="6600" b="0" cap="none" spc="0" dirty="0">
                <a:ln w="19050">
                  <a:solidFill>
                    <a:schemeClr val="tx1"/>
                  </a:solidFill>
                </a:ln>
                <a:solidFill>
                  <a:schemeClr val="bg1"/>
                </a:solidFill>
                <a:effectLst>
                  <a:outerShdw blurRad="38100" dist="19050" dir="2700000" algn="tl" rotWithShape="0">
                    <a:schemeClr val="dk1">
                      <a:alpha val="40000"/>
                    </a:schemeClr>
                  </a:outerShdw>
                </a:effectLst>
              </a:rPr>
              <a:t> </a:t>
            </a:r>
            <a:r>
              <a:rPr lang="it-IT" sz="6600" b="0" cap="none" spc="0" dirty="0" err="1">
                <a:ln w="19050">
                  <a:solidFill>
                    <a:schemeClr val="tx1"/>
                  </a:solidFill>
                </a:ln>
                <a:solidFill>
                  <a:schemeClr val="bg1"/>
                </a:solidFill>
                <a:effectLst>
                  <a:outerShdw blurRad="38100" dist="19050" dir="2700000" algn="tl" rotWithShape="0">
                    <a:schemeClr val="dk1">
                      <a:alpha val="40000"/>
                    </a:schemeClr>
                  </a:outerShdw>
                </a:effectLst>
              </a:rPr>
              <a:t>attention</a:t>
            </a:r>
            <a:r>
              <a:rPr lang="it-IT" sz="6600" b="0" cap="none" spc="0" dirty="0">
                <a:ln w="19050">
                  <a:solidFill>
                    <a:schemeClr val="tx1"/>
                  </a:solidFill>
                </a:ln>
                <a:solidFill>
                  <a:schemeClr val="bg1"/>
                </a:solidFill>
                <a:effectLst>
                  <a:outerShdw blurRad="38100" dist="19050" dir="2700000" algn="tl" rotWithShape="0">
                    <a:schemeClr val="dk1">
                      <a:alpha val="40000"/>
                    </a:schemeClr>
                  </a:outerShdw>
                </a:effectLst>
              </a:rPr>
              <a:t>!</a:t>
            </a:r>
            <a:endParaRPr lang="en-GB" sz="6600" b="0" cap="none" spc="0" dirty="0">
              <a:ln w="19050">
                <a:solidFill>
                  <a:schemeClr val="tx1"/>
                </a:solidFill>
              </a:ln>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523453259"/>
      </p:ext>
    </p:extLst>
  </p:cSld>
  <p:clrMapOvr>
    <a:masterClrMapping/>
  </p:clrMapOvr>
</p:sld>
</file>

<file path=ppt/theme/theme1.xml><?xml version="1.0" encoding="utf-8"?>
<a:theme xmlns:a="http://schemas.openxmlformats.org/drawingml/2006/main" name="AI-uto Solar">
  <a:themeElements>
    <a:clrScheme name="AI-uto Solar">
      <a:dk1>
        <a:srgbClr val="111827"/>
      </a:dk1>
      <a:lt1>
        <a:srgbClr val="FFFFFF"/>
      </a:lt1>
      <a:dk2>
        <a:srgbClr val="0F1B2D"/>
      </a:dk2>
      <a:lt2>
        <a:srgbClr val="F3F5F8"/>
      </a:lt2>
      <a:accent1>
        <a:srgbClr val="F2A900"/>
      </a:accent1>
      <a:accent2>
        <a:srgbClr val="B8860B"/>
      </a:accent2>
      <a:accent3>
        <a:srgbClr val="2F6FEB"/>
      </a:accent3>
      <a:accent4>
        <a:srgbClr val="4B5563"/>
      </a:accent4>
      <a:accent5>
        <a:srgbClr val="9AA4B2"/>
      </a:accent5>
      <a:accent6>
        <a:srgbClr val="1F7A4D"/>
      </a:accent6>
      <a:hlink>
        <a:srgbClr val="2F6FEB"/>
      </a:hlink>
      <a:folHlink>
        <a:srgbClr val="6D28D9"/>
      </a:folHlink>
    </a:clrScheme>
    <a:fontScheme name="AI-uto Sola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143</TotalTime>
  <Words>1729</Words>
  <Application>Microsoft Office PowerPoint</Application>
  <PresentationFormat>Widescreen</PresentationFormat>
  <Paragraphs>131</Paragraphs>
  <Slides>7</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vt:i4>
      </vt:variant>
    </vt:vector>
  </HeadingPairs>
  <TitlesOfParts>
    <vt:vector size="15" baseType="lpstr">
      <vt:lpstr>Aptos</vt:lpstr>
      <vt:lpstr>Arial</vt:lpstr>
      <vt:lpstr>Arial Nova Light</vt:lpstr>
      <vt:lpstr>Calibri</vt:lpstr>
      <vt:lpstr>Cambria Math</vt:lpstr>
      <vt:lpstr>Consolas</vt:lpstr>
      <vt:lpstr>AI-uto Solar</vt:lpstr>
      <vt:lpstr>Dark Gradient</vt:lpstr>
      <vt:lpstr>AI-based PV Detection from Electricity Consumption Profiles</vt:lpstr>
      <vt:lpstr>Task 1 · Is there PV?</vt:lpstr>
      <vt:lpstr>Task 2 · When was it switched on?</vt:lpstr>
      <vt:lpstr>Task 3 · How many kWp?</vt:lpstr>
      <vt:lpstr>Challenges</vt:lpstr>
      <vt:lpstr>Results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Flavio Davide Borriello</dc:creator>
  <cp:keywords/>
  <dc:description>generated using python-pptx</dc:description>
  <cp:lastModifiedBy>Flavio Davide Borriello - flavio.borriello@studio.unibo.it</cp:lastModifiedBy>
  <cp:revision>6</cp:revision>
  <dcterms:created xsi:type="dcterms:W3CDTF">2013-01-27T09:14:16Z</dcterms:created>
  <dcterms:modified xsi:type="dcterms:W3CDTF">2026-10-18T11:46:18Z</dcterms:modified>
  <cp:category/>
</cp:coreProperties>
</file>